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5"/>
  </p:notesMasterIdLst>
  <p:sldIdLst>
    <p:sldId id="312" r:id="rId2"/>
    <p:sldId id="330" r:id="rId3"/>
    <p:sldId id="354" r:id="rId4"/>
    <p:sldId id="369" r:id="rId5"/>
    <p:sldId id="350" r:id="rId6"/>
    <p:sldId id="357" r:id="rId7"/>
    <p:sldId id="355" r:id="rId8"/>
    <p:sldId id="351" r:id="rId9"/>
    <p:sldId id="360" r:id="rId10"/>
    <p:sldId id="359" r:id="rId11"/>
    <p:sldId id="352" r:id="rId12"/>
    <p:sldId id="345" r:id="rId13"/>
    <p:sldId id="331" r:id="rId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987" autoAdjust="0"/>
    <p:restoredTop sz="94660"/>
  </p:normalViewPr>
  <p:slideViewPr>
    <p:cSldViewPr snapToGrid="0">
      <p:cViewPr>
        <p:scale>
          <a:sx n="125" d="100"/>
          <a:sy n="125" d="100"/>
        </p:scale>
        <p:origin x="-1133" y="-207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1C1302F-620E-43D9-B7E3-8B303F5623AD}" type="datetimeFigureOut">
              <a:rPr lang="en-IN" smtClean="0"/>
              <a:t>01-08-2026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96560D8-4280-480C-BEE6-D1BF68CA1C26}" type="slidenum">
              <a:rPr lang="en-IN" smtClean="0"/>
              <a:t>‹#›</a:t>
            </a:fld>
            <a:endParaRPr lang="en-IN"/>
          </a:p>
        </p:txBody>
      </p:sp>
    </p:spTree>
    <p:extLst>
      <p:ext uri="{BB962C8B-B14F-4D97-AF65-F5344CB8AC3E}">
        <p14:creationId xmlns:p14="http://schemas.microsoft.com/office/powerpoint/2010/main" val="15722902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996560D8-4280-480C-BEE6-D1BF68CA1C26}" type="slidenum">
              <a:rPr lang="en-IN" smtClean="0"/>
              <a:t>1</a:t>
            </a:fld>
            <a:endParaRPr lang="en-IN"/>
          </a:p>
        </p:txBody>
      </p:sp>
    </p:spTree>
    <p:extLst>
      <p:ext uri="{BB962C8B-B14F-4D97-AF65-F5344CB8AC3E}">
        <p14:creationId xmlns:p14="http://schemas.microsoft.com/office/powerpoint/2010/main" val="231747754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64BACD-35E6-F397-C78A-6049CB3F68BF}"/>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CABB659B-EB39-1B1B-7592-ACC41225DDF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F06C6E08-00F5-4512-D056-5247A0791EC7}"/>
              </a:ext>
            </a:extLst>
          </p:cNvPr>
          <p:cNvSpPr>
            <a:spLocks noGrp="1"/>
          </p:cNvSpPr>
          <p:nvPr>
            <p:ph type="dt" sz="half" idx="10"/>
          </p:nvPr>
        </p:nvSpPr>
        <p:spPr/>
        <p:txBody>
          <a:bodyPr/>
          <a:lstStyle/>
          <a:p>
            <a:fld id="{D9B0CFEC-8E4C-48E2-A5CE-53BB206347F4}" type="datetimeFigureOut">
              <a:rPr lang="en-IN" smtClean="0"/>
              <a:t>01-08-2026</a:t>
            </a:fld>
            <a:endParaRPr lang="en-IN"/>
          </a:p>
        </p:txBody>
      </p:sp>
      <p:sp>
        <p:nvSpPr>
          <p:cNvPr id="5" name="Footer Placeholder 4">
            <a:extLst>
              <a:ext uri="{FF2B5EF4-FFF2-40B4-BE49-F238E27FC236}">
                <a16:creationId xmlns:a16="http://schemas.microsoft.com/office/drawing/2014/main" id="{C11D906F-2199-41DA-6E43-681CF44AA85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3F96B7E-4CFD-1EFE-E37C-EEB02E6988D2}"/>
              </a:ext>
            </a:extLst>
          </p:cNvPr>
          <p:cNvSpPr>
            <a:spLocks noGrp="1"/>
          </p:cNvSpPr>
          <p:nvPr>
            <p:ph type="sldNum" sz="quarter" idx="12"/>
          </p:nvPr>
        </p:nvSpPr>
        <p:spPr/>
        <p:txBody>
          <a:bodyPr/>
          <a:lstStyle/>
          <a:p>
            <a:fld id="{05402041-7CB4-4B7E-9AFF-29E99326707F}" type="slidenum">
              <a:rPr lang="en-IN" smtClean="0"/>
              <a:t>‹#›</a:t>
            </a:fld>
            <a:endParaRPr lang="en-IN"/>
          </a:p>
        </p:txBody>
      </p:sp>
    </p:spTree>
    <p:extLst>
      <p:ext uri="{BB962C8B-B14F-4D97-AF65-F5344CB8AC3E}">
        <p14:creationId xmlns:p14="http://schemas.microsoft.com/office/powerpoint/2010/main" val="66651818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933F0B-74B6-8097-70CD-6C006C431F8B}"/>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C17FD7CF-5C0E-189B-643C-D02F7B066CC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759D56B7-FA2A-D305-0F04-37BCBE73F0D7}"/>
              </a:ext>
            </a:extLst>
          </p:cNvPr>
          <p:cNvSpPr>
            <a:spLocks noGrp="1"/>
          </p:cNvSpPr>
          <p:nvPr>
            <p:ph type="dt" sz="half" idx="10"/>
          </p:nvPr>
        </p:nvSpPr>
        <p:spPr/>
        <p:txBody>
          <a:bodyPr/>
          <a:lstStyle/>
          <a:p>
            <a:fld id="{D9B0CFEC-8E4C-48E2-A5CE-53BB206347F4}" type="datetimeFigureOut">
              <a:rPr lang="en-IN" smtClean="0"/>
              <a:t>01-08-2026</a:t>
            </a:fld>
            <a:endParaRPr lang="en-IN"/>
          </a:p>
        </p:txBody>
      </p:sp>
      <p:sp>
        <p:nvSpPr>
          <p:cNvPr id="5" name="Footer Placeholder 4">
            <a:extLst>
              <a:ext uri="{FF2B5EF4-FFF2-40B4-BE49-F238E27FC236}">
                <a16:creationId xmlns:a16="http://schemas.microsoft.com/office/drawing/2014/main" id="{461A503B-720F-B395-ABDF-138B0FBAB6C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A89F98A7-8E00-ED1E-F0B5-372BC06B41E4}"/>
              </a:ext>
            </a:extLst>
          </p:cNvPr>
          <p:cNvSpPr>
            <a:spLocks noGrp="1"/>
          </p:cNvSpPr>
          <p:nvPr>
            <p:ph type="sldNum" sz="quarter" idx="12"/>
          </p:nvPr>
        </p:nvSpPr>
        <p:spPr/>
        <p:txBody>
          <a:bodyPr/>
          <a:lstStyle/>
          <a:p>
            <a:fld id="{05402041-7CB4-4B7E-9AFF-29E99326707F}" type="slidenum">
              <a:rPr lang="en-IN" smtClean="0"/>
              <a:t>‹#›</a:t>
            </a:fld>
            <a:endParaRPr lang="en-IN"/>
          </a:p>
        </p:txBody>
      </p:sp>
    </p:spTree>
    <p:extLst>
      <p:ext uri="{BB962C8B-B14F-4D97-AF65-F5344CB8AC3E}">
        <p14:creationId xmlns:p14="http://schemas.microsoft.com/office/powerpoint/2010/main" val="200747791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F9EE38-EA88-6481-03EF-10954B774D3F}"/>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411EBE8B-EABE-1A5C-6ADC-1156C07614DB}"/>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2AC9AF11-9737-9D37-FB6C-1A504E95DD76}"/>
              </a:ext>
            </a:extLst>
          </p:cNvPr>
          <p:cNvSpPr>
            <a:spLocks noGrp="1"/>
          </p:cNvSpPr>
          <p:nvPr>
            <p:ph type="dt" sz="half" idx="10"/>
          </p:nvPr>
        </p:nvSpPr>
        <p:spPr/>
        <p:txBody>
          <a:bodyPr/>
          <a:lstStyle/>
          <a:p>
            <a:fld id="{D9B0CFEC-8E4C-48E2-A5CE-53BB206347F4}" type="datetimeFigureOut">
              <a:rPr lang="en-IN" smtClean="0"/>
              <a:t>01-08-2026</a:t>
            </a:fld>
            <a:endParaRPr lang="en-IN"/>
          </a:p>
        </p:txBody>
      </p:sp>
      <p:sp>
        <p:nvSpPr>
          <p:cNvPr id="5" name="Footer Placeholder 4">
            <a:extLst>
              <a:ext uri="{FF2B5EF4-FFF2-40B4-BE49-F238E27FC236}">
                <a16:creationId xmlns:a16="http://schemas.microsoft.com/office/drawing/2014/main" id="{9D5B0CF1-CF42-5355-B24D-A3362BB79524}"/>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2AFD15F-AA22-F8C3-AC1B-C9468A16BE0E}"/>
              </a:ext>
            </a:extLst>
          </p:cNvPr>
          <p:cNvSpPr>
            <a:spLocks noGrp="1"/>
          </p:cNvSpPr>
          <p:nvPr>
            <p:ph type="sldNum" sz="quarter" idx="12"/>
          </p:nvPr>
        </p:nvSpPr>
        <p:spPr/>
        <p:txBody>
          <a:bodyPr/>
          <a:lstStyle/>
          <a:p>
            <a:fld id="{05402041-7CB4-4B7E-9AFF-29E99326707F}" type="slidenum">
              <a:rPr lang="en-IN" smtClean="0"/>
              <a:t>‹#›</a:t>
            </a:fld>
            <a:endParaRPr lang="en-IN"/>
          </a:p>
        </p:txBody>
      </p:sp>
    </p:spTree>
    <p:extLst>
      <p:ext uri="{BB962C8B-B14F-4D97-AF65-F5344CB8AC3E}">
        <p14:creationId xmlns:p14="http://schemas.microsoft.com/office/powerpoint/2010/main" val="43198345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E0F760-8E72-B8F0-5B04-1C1B652365DC}"/>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55779D0B-BDA3-2DDE-0DDB-BC165A528DA2}"/>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C533D018-50D5-97B3-B7F5-BFF499BEE5E9}"/>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A382F965-0462-7A3A-5B0B-9418EC892920}"/>
              </a:ext>
            </a:extLst>
          </p:cNvPr>
          <p:cNvSpPr>
            <a:spLocks noGrp="1"/>
          </p:cNvSpPr>
          <p:nvPr>
            <p:ph type="dt" sz="half" idx="10"/>
          </p:nvPr>
        </p:nvSpPr>
        <p:spPr/>
        <p:txBody>
          <a:bodyPr/>
          <a:lstStyle/>
          <a:p>
            <a:fld id="{D9B0CFEC-8E4C-48E2-A5CE-53BB206347F4}" type="datetimeFigureOut">
              <a:rPr lang="en-IN" smtClean="0"/>
              <a:t>01-08-2026</a:t>
            </a:fld>
            <a:endParaRPr lang="en-IN"/>
          </a:p>
        </p:txBody>
      </p:sp>
      <p:sp>
        <p:nvSpPr>
          <p:cNvPr id="6" name="Footer Placeholder 5">
            <a:extLst>
              <a:ext uri="{FF2B5EF4-FFF2-40B4-BE49-F238E27FC236}">
                <a16:creationId xmlns:a16="http://schemas.microsoft.com/office/drawing/2014/main" id="{064B1886-07C5-0BC8-E9B3-747244FC3132}"/>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58DEAE41-E426-B3FF-9597-765910B573C0}"/>
              </a:ext>
            </a:extLst>
          </p:cNvPr>
          <p:cNvSpPr>
            <a:spLocks noGrp="1"/>
          </p:cNvSpPr>
          <p:nvPr>
            <p:ph type="sldNum" sz="quarter" idx="12"/>
          </p:nvPr>
        </p:nvSpPr>
        <p:spPr/>
        <p:txBody>
          <a:bodyPr/>
          <a:lstStyle/>
          <a:p>
            <a:fld id="{05402041-7CB4-4B7E-9AFF-29E99326707F}" type="slidenum">
              <a:rPr lang="en-IN" smtClean="0"/>
              <a:t>‹#›</a:t>
            </a:fld>
            <a:endParaRPr lang="en-IN"/>
          </a:p>
        </p:txBody>
      </p:sp>
    </p:spTree>
    <p:extLst>
      <p:ext uri="{BB962C8B-B14F-4D97-AF65-F5344CB8AC3E}">
        <p14:creationId xmlns:p14="http://schemas.microsoft.com/office/powerpoint/2010/main" val="118824205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CC721A-1BB9-136A-C047-7DF1D6D914D5}"/>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6E30B2FD-0C0B-E741-AC06-A0BF3A675C3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D9014759-8F06-393B-1BA1-14FEB59A0B7C}"/>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7FA8F1EF-A350-4E78-9651-74EDDF4F8B3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1BFB5994-726E-713E-616A-1E4F2DE5188E}"/>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BCC7C44B-F0BD-7033-4C20-DD21AE6D8DA8}"/>
              </a:ext>
            </a:extLst>
          </p:cNvPr>
          <p:cNvSpPr>
            <a:spLocks noGrp="1"/>
          </p:cNvSpPr>
          <p:nvPr>
            <p:ph type="dt" sz="half" idx="10"/>
          </p:nvPr>
        </p:nvSpPr>
        <p:spPr/>
        <p:txBody>
          <a:bodyPr/>
          <a:lstStyle/>
          <a:p>
            <a:fld id="{D9B0CFEC-8E4C-48E2-A5CE-53BB206347F4}" type="datetimeFigureOut">
              <a:rPr lang="en-IN" smtClean="0"/>
              <a:t>01-08-2026</a:t>
            </a:fld>
            <a:endParaRPr lang="en-IN"/>
          </a:p>
        </p:txBody>
      </p:sp>
      <p:sp>
        <p:nvSpPr>
          <p:cNvPr id="8" name="Footer Placeholder 7">
            <a:extLst>
              <a:ext uri="{FF2B5EF4-FFF2-40B4-BE49-F238E27FC236}">
                <a16:creationId xmlns:a16="http://schemas.microsoft.com/office/drawing/2014/main" id="{75E8E43C-AA32-20A0-3673-C2C0FA762D9C}"/>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4374800D-AE66-0DDF-EF0F-1C742EE83A86}"/>
              </a:ext>
            </a:extLst>
          </p:cNvPr>
          <p:cNvSpPr>
            <a:spLocks noGrp="1"/>
          </p:cNvSpPr>
          <p:nvPr>
            <p:ph type="sldNum" sz="quarter" idx="12"/>
          </p:nvPr>
        </p:nvSpPr>
        <p:spPr/>
        <p:txBody>
          <a:bodyPr/>
          <a:lstStyle/>
          <a:p>
            <a:fld id="{05402041-7CB4-4B7E-9AFF-29E99326707F}" type="slidenum">
              <a:rPr lang="en-IN" smtClean="0"/>
              <a:t>‹#›</a:t>
            </a:fld>
            <a:endParaRPr lang="en-IN"/>
          </a:p>
        </p:txBody>
      </p:sp>
    </p:spTree>
    <p:extLst>
      <p:ext uri="{BB962C8B-B14F-4D97-AF65-F5344CB8AC3E}">
        <p14:creationId xmlns:p14="http://schemas.microsoft.com/office/powerpoint/2010/main" val="189038084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4DA1C3-F369-5C16-8928-120B25B4FC7B}"/>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612A49BF-C3A7-8522-C823-19B736E1F608}"/>
              </a:ext>
            </a:extLst>
          </p:cNvPr>
          <p:cNvSpPr>
            <a:spLocks noGrp="1"/>
          </p:cNvSpPr>
          <p:nvPr>
            <p:ph type="dt" sz="half" idx="10"/>
          </p:nvPr>
        </p:nvSpPr>
        <p:spPr/>
        <p:txBody>
          <a:bodyPr/>
          <a:lstStyle/>
          <a:p>
            <a:fld id="{D9B0CFEC-8E4C-48E2-A5CE-53BB206347F4}" type="datetimeFigureOut">
              <a:rPr lang="en-IN" smtClean="0"/>
              <a:t>01-08-2026</a:t>
            </a:fld>
            <a:endParaRPr lang="en-IN"/>
          </a:p>
        </p:txBody>
      </p:sp>
      <p:sp>
        <p:nvSpPr>
          <p:cNvPr id="4" name="Footer Placeholder 3">
            <a:extLst>
              <a:ext uri="{FF2B5EF4-FFF2-40B4-BE49-F238E27FC236}">
                <a16:creationId xmlns:a16="http://schemas.microsoft.com/office/drawing/2014/main" id="{C8A9AFB9-BECF-3691-F5A3-2B225F6CD794}"/>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5176E7C7-C308-5FAE-1AFA-2C7489509E3D}"/>
              </a:ext>
            </a:extLst>
          </p:cNvPr>
          <p:cNvSpPr>
            <a:spLocks noGrp="1"/>
          </p:cNvSpPr>
          <p:nvPr>
            <p:ph type="sldNum" sz="quarter" idx="12"/>
          </p:nvPr>
        </p:nvSpPr>
        <p:spPr/>
        <p:txBody>
          <a:bodyPr/>
          <a:lstStyle/>
          <a:p>
            <a:fld id="{05402041-7CB4-4B7E-9AFF-29E99326707F}" type="slidenum">
              <a:rPr lang="en-IN" smtClean="0"/>
              <a:t>‹#›</a:t>
            </a:fld>
            <a:endParaRPr lang="en-IN"/>
          </a:p>
        </p:txBody>
      </p:sp>
    </p:spTree>
    <p:extLst>
      <p:ext uri="{BB962C8B-B14F-4D97-AF65-F5344CB8AC3E}">
        <p14:creationId xmlns:p14="http://schemas.microsoft.com/office/powerpoint/2010/main" val="282413491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1CB92FD-9308-639E-9DCF-A26796504416}"/>
              </a:ext>
            </a:extLst>
          </p:cNvPr>
          <p:cNvSpPr>
            <a:spLocks noGrp="1"/>
          </p:cNvSpPr>
          <p:nvPr>
            <p:ph type="dt" sz="half" idx="10"/>
          </p:nvPr>
        </p:nvSpPr>
        <p:spPr/>
        <p:txBody>
          <a:bodyPr/>
          <a:lstStyle/>
          <a:p>
            <a:fld id="{D9B0CFEC-8E4C-48E2-A5CE-53BB206347F4}" type="datetimeFigureOut">
              <a:rPr lang="en-IN" smtClean="0"/>
              <a:t>01-08-2026</a:t>
            </a:fld>
            <a:endParaRPr lang="en-IN"/>
          </a:p>
        </p:txBody>
      </p:sp>
      <p:sp>
        <p:nvSpPr>
          <p:cNvPr id="3" name="Footer Placeholder 2">
            <a:extLst>
              <a:ext uri="{FF2B5EF4-FFF2-40B4-BE49-F238E27FC236}">
                <a16:creationId xmlns:a16="http://schemas.microsoft.com/office/drawing/2014/main" id="{4400D8A4-6CA9-D314-FE6B-E281A34A02F1}"/>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64931449-C4E0-F455-335D-39067F5EEBF3}"/>
              </a:ext>
            </a:extLst>
          </p:cNvPr>
          <p:cNvSpPr>
            <a:spLocks noGrp="1"/>
          </p:cNvSpPr>
          <p:nvPr>
            <p:ph type="sldNum" sz="quarter" idx="12"/>
          </p:nvPr>
        </p:nvSpPr>
        <p:spPr/>
        <p:txBody>
          <a:bodyPr/>
          <a:lstStyle/>
          <a:p>
            <a:fld id="{05402041-7CB4-4B7E-9AFF-29E99326707F}" type="slidenum">
              <a:rPr lang="en-IN" smtClean="0"/>
              <a:t>‹#›</a:t>
            </a:fld>
            <a:endParaRPr lang="en-IN"/>
          </a:p>
        </p:txBody>
      </p:sp>
    </p:spTree>
    <p:extLst>
      <p:ext uri="{BB962C8B-B14F-4D97-AF65-F5344CB8AC3E}">
        <p14:creationId xmlns:p14="http://schemas.microsoft.com/office/powerpoint/2010/main" val="29515113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CE4595-A939-A316-1D29-200C542C7DA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709531D0-D25D-BBC3-452B-62D1CBE95BD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0634DEA5-C39A-CDF2-B54D-03BF4F062B4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84694CE-BB09-2D47-F5E4-6D9C01A33969}"/>
              </a:ext>
            </a:extLst>
          </p:cNvPr>
          <p:cNvSpPr>
            <a:spLocks noGrp="1"/>
          </p:cNvSpPr>
          <p:nvPr>
            <p:ph type="dt" sz="half" idx="10"/>
          </p:nvPr>
        </p:nvSpPr>
        <p:spPr/>
        <p:txBody>
          <a:bodyPr/>
          <a:lstStyle/>
          <a:p>
            <a:fld id="{D9B0CFEC-8E4C-48E2-A5CE-53BB206347F4}" type="datetimeFigureOut">
              <a:rPr lang="en-IN" smtClean="0"/>
              <a:t>01-08-2026</a:t>
            </a:fld>
            <a:endParaRPr lang="en-IN"/>
          </a:p>
        </p:txBody>
      </p:sp>
      <p:sp>
        <p:nvSpPr>
          <p:cNvPr id="6" name="Footer Placeholder 5">
            <a:extLst>
              <a:ext uri="{FF2B5EF4-FFF2-40B4-BE49-F238E27FC236}">
                <a16:creationId xmlns:a16="http://schemas.microsoft.com/office/drawing/2014/main" id="{7C936A5A-1CE4-6514-DC6A-3F9FCE95F2CB}"/>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20CED049-235E-778F-28A0-31AA7ADF1368}"/>
              </a:ext>
            </a:extLst>
          </p:cNvPr>
          <p:cNvSpPr>
            <a:spLocks noGrp="1"/>
          </p:cNvSpPr>
          <p:nvPr>
            <p:ph type="sldNum" sz="quarter" idx="12"/>
          </p:nvPr>
        </p:nvSpPr>
        <p:spPr/>
        <p:txBody>
          <a:bodyPr/>
          <a:lstStyle/>
          <a:p>
            <a:fld id="{05402041-7CB4-4B7E-9AFF-29E99326707F}" type="slidenum">
              <a:rPr lang="en-IN" smtClean="0"/>
              <a:t>‹#›</a:t>
            </a:fld>
            <a:endParaRPr lang="en-IN"/>
          </a:p>
        </p:txBody>
      </p:sp>
    </p:spTree>
    <p:extLst>
      <p:ext uri="{BB962C8B-B14F-4D97-AF65-F5344CB8AC3E}">
        <p14:creationId xmlns:p14="http://schemas.microsoft.com/office/powerpoint/2010/main" val="14649900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74E3F3-CF3E-56CB-DFBC-9177425B924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A4DBE128-9CB7-A94E-B175-FEA2C633B1B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3606BA13-FB1F-E1BA-AAC4-C54F2636809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C25E06A-ED55-D5E5-4AFD-89351B3874A0}"/>
              </a:ext>
            </a:extLst>
          </p:cNvPr>
          <p:cNvSpPr>
            <a:spLocks noGrp="1"/>
          </p:cNvSpPr>
          <p:nvPr>
            <p:ph type="dt" sz="half" idx="10"/>
          </p:nvPr>
        </p:nvSpPr>
        <p:spPr/>
        <p:txBody>
          <a:bodyPr/>
          <a:lstStyle/>
          <a:p>
            <a:fld id="{D9B0CFEC-8E4C-48E2-A5CE-53BB206347F4}" type="datetimeFigureOut">
              <a:rPr lang="en-IN" smtClean="0"/>
              <a:t>01-08-2026</a:t>
            </a:fld>
            <a:endParaRPr lang="en-IN"/>
          </a:p>
        </p:txBody>
      </p:sp>
      <p:sp>
        <p:nvSpPr>
          <p:cNvPr id="6" name="Footer Placeholder 5">
            <a:extLst>
              <a:ext uri="{FF2B5EF4-FFF2-40B4-BE49-F238E27FC236}">
                <a16:creationId xmlns:a16="http://schemas.microsoft.com/office/drawing/2014/main" id="{BD0BEC95-FC50-DE0C-0E50-F0C9B28D0591}"/>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37A513B4-B377-B549-688B-09D919399CE8}"/>
              </a:ext>
            </a:extLst>
          </p:cNvPr>
          <p:cNvSpPr>
            <a:spLocks noGrp="1"/>
          </p:cNvSpPr>
          <p:nvPr>
            <p:ph type="sldNum" sz="quarter" idx="12"/>
          </p:nvPr>
        </p:nvSpPr>
        <p:spPr/>
        <p:txBody>
          <a:bodyPr/>
          <a:lstStyle/>
          <a:p>
            <a:fld id="{05402041-7CB4-4B7E-9AFF-29E99326707F}" type="slidenum">
              <a:rPr lang="en-IN" smtClean="0"/>
              <a:t>‹#›</a:t>
            </a:fld>
            <a:endParaRPr lang="en-IN"/>
          </a:p>
        </p:txBody>
      </p:sp>
    </p:spTree>
    <p:extLst>
      <p:ext uri="{BB962C8B-B14F-4D97-AF65-F5344CB8AC3E}">
        <p14:creationId xmlns:p14="http://schemas.microsoft.com/office/powerpoint/2010/main" val="280998089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C784A8-302F-B006-232F-33276C04A731}"/>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74B8194A-4055-63EB-3A9A-90B2EBC9D644}"/>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27C7BC93-8C79-4787-B914-D3CFF83596A0}"/>
              </a:ext>
            </a:extLst>
          </p:cNvPr>
          <p:cNvSpPr>
            <a:spLocks noGrp="1"/>
          </p:cNvSpPr>
          <p:nvPr>
            <p:ph type="dt" sz="half" idx="10"/>
          </p:nvPr>
        </p:nvSpPr>
        <p:spPr/>
        <p:txBody>
          <a:bodyPr/>
          <a:lstStyle/>
          <a:p>
            <a:fld id="{D9B0CFEC-8E4C-48E2-A5CE-53BB206347F4}" type="datetimeFigureOut">
              <a:rPr lang="en-IN" smtClean="0"/>
              <a:t>01-08-2026</a:t>
            </a:fld>
            <a:endParaRPr lang="en-IN"/>
          </a:p>
        </p:txBody>
      </p:sp>
      <p:sp>
        <p:nvSpPr>
          <p:cNvPr id="5" name="Footer Placeholder 4">
            <a:extLst>
              <a:ext uri="{FF2B5EF4-FFF2-40B4-BE49-F238E27FC236}">
                <a16:creationId xmlns:a16="http://schemas.microsoft.com/office/drawing/2014/main" id="{5A76014A-5A7C-5473-F5AD-EEA59CFD9B1E}"/>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06B4D4F6-EA1F-E4A1-73BC-D271696DF394}"/>
              </a:ext>
            </a:extLst>
          </p:cNvPr>
          <p:cNvSpPr>
            <a:spLocks noGrp="1"/>
          </p:cNvSpPr>
          <p:nvPr>
            <p:ph type="sldNum" sz="quarter" idx="12"/>
          </p:nvPr>
        </p:nvSpPr>
        <p:spPr/>
        <p:txBody>
          <a:bodyPr/>
          <a:lstStyle/>
          <a:p>
            <a:fld id="{05402041-7CB4-4B7E-9AFF-29E99326707F}" type="slidenum">
              <a:rPr lang="en-IN" smtClean="0"/>
              <a:t>‹#›</a:t>
            </a:fld>
            <a:endParaRPr lang="en-IN"/>
          </a:p>
        </p:txBody>
      </p:sp>
    </p:spTree>
    <p:extLst>
      <p:ext uri="{BB962C8B-B14F-4D97-AF65-F5344CB8AC3E}">
        <p14:creationId xmlns:p14="http://schemas.microsoft.com/office/powerpoint/2010/main" val="115942555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7BFAE115-E106-5D87-AFDB-E9571EA902AC}"/>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F209E08B-358D-84CB-EAB2-68EB8299F24A}"/>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0504D883-C94A-4406-759D-68BEA0E9964B}"/>
              </a:ext>
            </a:extLst>
          </p:cNvPr>
          <p:cNvSpPr>
            <a:spLocks noGrp="1"/>
          </p:cNvSpPr>
          <p:nvPr>
            <p:ph type="dt" sz="half" idx="10"/>
          </p:nvPr>
        </p:nvSpPr>
        <p:spPr/>
        <p:txBody>
          <a:bodyPr/>
          <a:lstStyle/>
          <a:p>
            <a:fld id="{D9B0CFEC-8E4C-48E2-A5CE-53BB206347F4}" type="datetimeFigureOut">
              <a:rPr lang="en-IN" smtClean="0"/>
              <a:t>01-08-2026</a:t>
            </a:fld>
            <a:endParaRPr lang="en-IN"/>
          </a:p>
        </p:txBody>
      </p:sp>
      <p:sp>
        <p:nvSpPr>
          <p:cNvPr id="5" name="Footer Placeholder 4">
            <a:extLst>
              <a:ext uri="{FF2B5EF4-FFF2-40B4-BE49-F238E27FC236}">
                <a16:creationId xmlns:a16="http://schemas.microsoft.com/office/drawing/2014/main" id="{43A1C3DB-B453-2D3F-F293-33C4807B61C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75B5311-396C-6C7E-8497-E6F01638D8CE}"/>
              </a:ext>
            </a:extLst>
          </p:cNvPr>
          <p:cNvSpPr>
            <a:spLocks noGrp="1"/>
          </p:cNvSpPr>
          <p:nvPr>
            <p:ph type="sldNum" sz="quarter" idx="12"/>
          </p:nvPr>
        </p:nvSpPr>
        <p:spPr/>
        <p:txBody>
          <a:bodyPr/>
          <a:lstStyle/>
          <a:p>
            <a:fld id="{05402041-7CB4-4B7E-9AFF-29E99326707F}" type="slidenum">
              <a:rPr lang="en-IN" smtClean="0"/>
              <a:t>‹#›</a:t>
            </a:fld>
            <a:endParaRPr lang="en-IN"/>
          </a:p>
        </p:txBody>
      </p:sp>
    </p:spTree>
    <p:extLst>
      <p:ext uri="{BB962C8B-B14F-4D97-AF65-F5344CB8AC3E}">
        <p14:creationId xmlns:p14="http://schemas.microsoft.com/office/powerpoint/2010/main" val="266409855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FD235D2-80A7-A35D-2188-0BC040B543E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459CB011-9226-8914-9B4C-4F6EABAB9FE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B5042B51-7A61-26CA-1B3C-47B041725AA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9B0CFEC-8E4C-48E2-A5CE-53BB206347F4}" type="datetimeFigureOut">
              <a:rPr lang="en-IN" smtClean="0"/>
              <a:t>01-08-2026</a:t>
            </a:fld>
            <a:endParaRPr lang="en-IN"/>
          </a:p>
        </p:txBody>
      </p:sp>
      <p:sp>
        <p:nvSpPr>
          <p:cNvPr id="5" name="Footer Placeholder 4">
            <a:extLst>
              <a:ext uri="{FF2B5EF4-FFF2-40B4-BE49-F238E27FC236}">
                <a16:creationId xmlns:a16="http://schemas.microsoft.com/office/drawing/2014/main" id="{70581B59-7DE8-075E-664F-ABA938ECC67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AA19AE40-A62A-224F-0BF7-7318A92A618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5402041-7CB4-4B7E-9AFF-29E99326707F}" type="slidenum">
              <a:rPr lang="en-IN" smtClean="0"/>
              <a:t>‹#›</a:t>
            </a:fld>
            <a:endParaRPr lang="en-IN"/>
          </a:p>
        </p:txBody>
      </p:sp>
    </p:spTree>
    <p:extLst>
      <p:ext uri="{BB962C8B-B14F-4D97-AF65-F5344CB8AC3E}">
        <p14:creationId xmlns:p14="http://schemas.microsoft.com/office/powerpoint/2010/main" val="112744363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2.jp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3.jpg"/><Relationship Id="rId1" Type="http://schemas.openxmlformats.org/officeDocument/2006/relationships/slideLayout" Target="../slideLayouts/slideLayout2.xml"/><Relationship Id="rId4" Type="http://schemas.openxmlformats.org/officeDocument/2006/relationships/image" Target="../media/image4.jpeg"/></Relationships>
</file>

<file path=ppt/slides/_rels/slide4.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3.jp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2.jpg"/><Relationship Id="rId1" Type="http://schemas.openxmlformats.org/officeDocument/2006/relationships/slideLayout" Target="../slideLayouts/slideLayout2.xml"/><Relationship Id="rId4" Type="http://schemas.openxmlformats.org/officeDocument/2006/relationships/image" Target="../media/image5.jpeg"/></Relationships>
</file>

<file path=ppt/slides/_rels/slide6.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2.jpg"/><Relationship Id="rId1" Type="http://schemas.openxmlformats.org/officeDocument/2006/relationships/slideLayout" Target="../slideLayouts/slideLayout2.xml"/><Relationship Id="rId4" Type="http://schemas.openxmlformats.org/officeDocument/2006/relationships/image" Target="../media/image6.jpeg"/></Relationships>
</file>

<file path=ppt/slides/_rels/slide7.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2.jpg"/><Relationship Id="rId1" Type="http://schemas.openxmlformats.org/officeDocument/2006/relationships/slideLayout" Target="../slideLayouts/slideLayout7.xml"/><Relationship Id="rId4" Type="http://schemas.openxmlformats.org/officeDocument/2006/relationships/image" Target="../media/image7.jpeg"/></Relationships>
</file>

<file path=ppt/slides/_rels/slide8.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8.jpeg"/><Relationship Id="rId1" Type="http://schemas.openxmlformats.org/officeDocument/2006/relationships/slideLayout" Target="../slideLayouts/slideLayout2.xml"/><Relationship Id="rId5" Type="http://schemas.openxmlformats.org/officeDocument/2006/relationships/image" Target="../media/image9.jpeg"/><Relationship Id="rId4" Type="http://schemas.openxmlformats.org/officeDocument/2006/relationships/image" Target="../media/image2.jpg"/></Relationships>
</file>

<file path=ppt/slides/_rels/slide9.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10.jpeg"/><Relationship Id="rId1" Type="http://schemas.openxmlformats.org/officeDocument/2006/relationships/slideLayout" Target="../slideLayouts/slideLayout2.xml"/><Relationship Id="rId5" Type="http://schemas.openxmlformats.org/officeDocument/2006/relationships/image" Target="../media/image11.jpeg"/><Relationship Id="rId4" Type="http://schemas.openxmlformats.org/officeDocument/2006/relationships/image" Target="../media/image2.jpg"/></Relationships>
</file>

<file path=ppt/slides/_rels/slide10.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12.jpeg"/><Relationship Id="rId1" Type="http://schemas.openxmlformats.org/officeDocument/2006/relationships/slideLayout" Target="../slideLayouts/slideLayout2.xml"/><Relationship Id="rId5" Type="http://schemas.openxmlformats.org/officeDocument/2006/relationships/image" Target="../media/image13.jpeg"/><Relationship Id="rId4" Type="http://schemas.openxmlformats.org/officeDocument/2006/relationships/image" Target="../media/image2.jpg"/></Relationships>
</file>

<file path=ppt/slides/_rels/slide11.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14.jpeg"/><Relationship Id="rId1" Type="http://schemas.openxmlformats.org/officeDocument/2006/relationships/slideLayout" Target="../slideLayouts/slideLayout2.xml"/><Relationship Id="rId5" Type="http://schemas.openxmlformats.org/officeDocument/2006/relationships/image" Target="../media/image15.jpeg"/><Relationship Id="rId4" Type="http://schemas.openxmlformats.org/officeDocument/2006/relationships/image" Target="../media/image2.jpg"/></Relationships>
</file>

<file path=ppt/slides/_rels/slide12.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3.jp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6BAAAF75-5F54-80BD-8276-B9B88498351A}"/>
              </a:ext>
            </a:extLst>
          </p:cNvPr>
          <p:cNvSpPr/>
          <p:nvPr/>
        </p:nvSpPr>
        <p:spPr>
          <a:xfrm>
            <a:off x="244126" y="158509"/>
            <a:ext cx="11703747" cy="6599974"/>
          </a:xfrm>
          <a:prstGeom prst="rect">
            <a:avLst/>
          </a:prstGeom>
          <a:ln w="38100">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IN" dirty="0"/>
          </a:p>
        </p:txBody>
      </p:sp>
      <p:sp>
        <p:nvSpPr>
          <p:cNvPr id="9" name="Title 1"/>
          <p:cNvSpPr txBox="1">
            <a:spLocks/>
          </p:cNvSpPr>
          <p:nvPr/>
        </p:nvSpPr>
        <p:spPr>
          <a:xfrm>
            <a:off x="1524000" y="2362200"/>
            <a:ext cx="9245600" cy="1295400"/>
          </a:xfrm>
          <a:prstGeom prst="rect">
            <a:avLst/>
          </a:prstGeom>
        </p:spPr>
        <p:txBody>
          <a:bodyPr vert="horz" lIns="91440" tIns="45720" rIns="91440" bIns="45720" rtlCol="0" anchor="ctr">
            <a:normAutofit/>
          </a:bodyPr>
          <a:lstStyle/>
          <a:p>
            <a:pPr lvl="0" algn="ctr">
              <a:spcBef>
                <a:spcPct val="0"/>
              </a:spcBef>
            </a:pPr>
            <a:endParaRPr kumimoji="0" lang="en-US" sz="2000" b="1" i="0" u="none" strike="noStrike" kern="1200" cap="none" spc="0" normalizeH="0" baseline="0" noProof="0">
              <a:ln>
                <a:noFill/>
              </a:ln>
              <a:solidFill>
                <a:schemeClr val="tx1"/>
              </a:solidFill>
              <a:effectLst/>
              <a:uLnTx/>
              <a:uFillTx/>
              <a:latin typeface="Times New Roman" pitchFamily="18" charset="0"/>
              <a:ea typeface="+mj-ea"/>
              <a:cs typeface="Times New Roman" pitchFamily="18" charset="0"/>
            </a:endParaRPr>
          </a:p>
        </p:txBody>
      </p:sp>
      <p:pic>
        <p:nvPicPr>
          <p:cNvPr id="3" name="Picture 2"/>
          <p:cNvPicPr>
            <a:picLocks noChangeAspect="1"/>
          </p:cNvPicPr>
          <p:nvPr/>
        </p:nvPicPr>
        <p:blipFill>
          <a:blip r:embed="rId3"/>
          <a:stretch>
            <a:fillRect/>
          </a:stretch>
        </p:blipFill>
        <p:spPr>
          <a:xfrm>
            <a:off x="380098" y="207016"/>
            <a:ext cx="10887597" cy="1957262"/>
          </a:xfrm>
          <a:prstGeom prst="rect">
            <a:avLst/>
          </a:prstGeom>
        </p:spPr>
      </p:pic>
      <p:sp>
        <p:nvSpPr>
          <p:cNvPr id="7" name="TextBox 6">
            <a:extLst>
              <a:ext uri="{FF2B5EF4-FFF2-40B4-BE49-F238E27FC236}">
                <a16:creationId xmlns:a16="http://schemas.microsoft.com/office/drawing/2014/main" id="{7E70E743-3132-7F22-01A0-2F451B3FBED2}"/>
              </a:ext>
            </a:extLst>
          </p:cNvPr>
          <p:cNvSpPr txBox="1"/>
          <p:nvPr/>
        </p:nvSpPr>
        <p:spPr>
          <a:xfrm>
            <a:off x="796371" y="2352021"/>
            <a:ext cx="10700857" cy="646331"/>
          </a:xfrm>
          <a:prstGeom prst="rect">
            <a:avLst/>
          </a:prstGeom>
          <a:noFill/>
        </p:spPr>
        <p:txBody>
          <a:bodyPr wrap="square">
            <a:spAutoFit/>
          </a:bodyPr>
          <a:lstStyle/>
          <a:p>
            <a:pPr algn="ctr"/>
            <a:r>
              <a:rPr lang="en-IN" sz="3600" b="1" dirty="0">
                <a:latin typeface="Times" panose="02020603050405020304" pitchFamily="18" charset="0"/>
                <a:cs typeface="Times" panose="02020603050405020304" pitchFamily="18" charset="0"/>
              </a:rPr>
              <a:t>Healthcare Data Mining for Disease Prediction</a:t>
            </a:r>
            <a:endParaRPr lang="en-US" sz="3600" b="1" dirty="0">
              <a:effectLst/>
              <a:latin typeface="Times" panose="02020603050405020304" pitchFamily="18" charset="0"/>
              <a:cs typeface="Times" panose="02020603050405020304" pitchFamily="18" charset="0"/>
            </a:endParaRPr>
          </a:p>
        </p:txBody>
      </p:sp>
      <p:sp>
        <p:nvSpPr>
          <p:cNvPr id="8" name="Rectangle 1">
            <a:extLst>
              <a:ext uri="{FF2B5EF4-FFF2-40B4-BE49-F238E27FC236}">
                <a16:creationId xmlns:a16="http://schemas.microsoft.com/office/drawing/2014/main" id="{07FE4D90-F6EB-D25D-AF7B-E021C3404DFF}"/>
              </a:ext>
            </a:extLst>
          </p:cNvPr>
          <p:cNvSpPr>
            <a:spLocks noChangeArrowheads="1"/>
          </p:cNvSpPr>
          <p:nvPr/>
        </p:nvSpPr>
        <p:spPr bwMode="auto">
          <a:xfrm>
            <a:off x="1512888" y="3665538"/>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br>
              <a:rPr kumimoji="0" lang="en-US" altLang="en-US" sz="1800" b="0" i="0" u="none" strike="noStrike" cap="none" normalizeH="0" baseline="0">
                <a:ln>
                  <a:noFill/>
                </a:ln>
                <a:solidFill>
                  <a:schemeClr val="tx1"/>
                </a:solidFill>
                <a:effectLst/>
                <a:latin typeface="Arial" panose="020B0604020202020204" pitchFamily="34" charset="0"/>
              </a:rPr>
            </a:b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4" name="TextBox 3">
            <a:extLst>
              <a:ext uri="{FF2B5EF4-FFF2-40B4-BE49-F238E27FC236}">
                <a16:creationId xmlns:a16="http://schemas.microsoft.com/office/drawing/2014/main" id="{1145C8CD-9B07-3FB2-7E95-AFDCB0BAD06F}"/>
              </a:ext>
            </a:extLst>
          </p:cNvPr>
          <p:cNvSpPr txBox="1"/>
          <p:nvPr/>
        </p:nvSpPr>
        <p:spPr>
          <a:xfrm>
            <a:off x="7112039" y="3894173"/>
            <a:ext cx="4835834" cy="2308324"/>
          </a:xfrm>
          <a:prstGeom prst="rect">
            <a:avLst/>
          </a:prstGeom>
          <a:noFill/>
        </p:spPr>
        <p:txBody>
          <a:bodyPr wrap="square" rtlCol="0">
            <a:spAutoFit/>
          </a:bodyPr>
          <a:lstStyle/>
          <a:p>
            <a:pPr algn="l"/>
            <a:r>
              <a:rPr lang="en-IN" sz="2400" b="1" dirty="0" err="1">
                <a:latin typeface="Times New Roman" panose="02020603050405020304" pitchFamily="18" charset="0"/>
                <a:cs typeface="Times New Roman" panose="02020603050405020304" pitchFamily="18" charset="0"/>
              </a:rPr>
              <a:t>Name:Amrita</a:t>
            </a:r>
            <a:r>
              <a:rPr lang="en-IN" sz="2400" b="1" dirty="0">
                <a:latin typeface="Times New Roman" panose="02020603050405020304" pitchFamily="18" charset="0"/>
                <a:cs typeface="Times New Roman" panose="02020603050405020304" pitchFamily="18" charset="0"/>
              </a:rPr>
              <a:t> Arun</a:t>
            </a:r>
            <a:br>
              <a:rPr lang="en-IN" sz="2400" b="1" dirty="0">
                <a:latin typeface="Times New Roman" panose="02020603050405020304" pitchFamily="18" charset="0"/>
                <a:cs typeface="Times New Roman" panose="02020603050405020304" pitchFamily="18" charset="0"/>
              </a:rPr>
            </a:br>
            <a:r>
              <a:rPr lang="en-IN" sz="2400" b="1" dirty="0">
                <a:latin typeface="Times New Roman" panose="02020603050405020304" pitchFamily="18" charset="0"/>
                <a:cs typeface="Times New Roman" panose="02020603050405020304" pitchFamily="18" charset="0"/>
              </a:rPr>
              <a:t>            Hima Harshitha</a:t>
            </a:r>
          </a:p>
          <a:p>
            <a:pPr algn="l"/>
            <a:r>
              <a:rPr lang="en-IN" sz="2400" b="1" dirty="0">
                <a:latin typeface="Times New Roman" panose="02020603050405020304" pitchFamily="18" charset="0"/>
                <a:cs typeface="Times New Roman" panose="02020603050405020304" pitchFamily="18" charset="0"/>
              </a:rPr>
              <a:t>            Bhargavi</a:t>
            </a:r>
            <a:r>
              <a:rPr lang="en-IN" sz="2400" dirty="0">
                <a:latin typeface="Times New Roman" panose="02020603050405020304" pitchFamily="18" charset="0"/>
                <a:cs typeface="Times New Roman" panose="02020603050405020304" pitchFamily="18" charset="0"/>
              </a:rPr>
              <a:t>
</a:t>
            </a:r>
            <a:r>
              <a:rPr lang="en-IN" sz="2400" b="1" dirty="0">
                <a:latin typeface="Times New Roman" panose="02020603050405020304" pitchFamily="18" charset="0"/>
                <a:cs typeface="Times New Roman" panose="02020603050405020304" pitchFamily="18" charset="0"/>
              </a:rPr>
              <a:t>Course Code &amp; Name:</a:t>
            </a:r>
            <a:r>
              <a:rPr lang="en-IN" sz="2400" dirty="0">
                <a:latin typeface="Times New Roman" panose="02020603050405020304" pitchFamily="18" charset="0"/>
                <a:cs typeface="Times New Roman" panose="02020603050405020304" pitchFamily="18" charset="0"/>
              </a:rPr>
              <a:t> CSA1606- Data Warehousing and Data Mining</a:t>
            </a:r>
          </a:p>
          <a:p>
            <a:pPr algn="l"/>
            <a:r>
              <a:rPr lang="en-IN" sz="2400" b="1" dirty="0">
                <a:latin typeface="Times New Roman" panose="02020603050405020304" pitchFamily="18" charset="0"/>
                <a:cs typeface="Times New Roman" panose="02020603050405020304" pitchFamily="18" charset="0"/>
              </a:rPr>
              <a:t>Faculty name: </a:t>
            </a:r>
            <a:r>
              <a:rPr lang="en-IN" sz="2400" dirty="0" err="1">
                <a:latin typeface="Times New Roman" panose="02020603050405020304" pitchFamily="18" charset="0"/>
                <a:cs typeface="Times New Roman" panose="02020603050405020304" pitchFamily="18" charset="0"/>
              </a:rPr>
              <a:t>Dr.S</a:t>
            </a:r>
            <a:r>
              <a:rPr lang="en-IN" sz="2400" dirty="0">
                <a:latin typeface="Times New Roman" panose="02020603050405020304" pitchFamily="18" charset="0"/>
                <a:cs typeface="Times New Roman" panose="02020603050405020304" pitchFamily="18" charset="0"/>
              </a:rPr>
              <a:t> Renuga</a:t>
            </a:r>
            <a:endParaRPr lang="en-US" sz="24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0C71BFF2-69CB-FCB5-D363-AB054C839602}"/>
              </a:ext>
            </a:extLst>
          </p:cNvPr>
          <p:cNvSpPr/>
          <p:nvPr/>
        </p:nvSpPr>
        <p:spPr>
          <a:xfrm>
            <a:off x="244126" y="129013"/>
            <a:ext cx="11703747" cy="6599974"/>
          </a:xfrm>
          <a:prstGeom prst="rect">
            <a:avLst/>
          </a:prstGeom>
          <a:ln w="38100">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IN" dirty="0"/>
          </a:p>
        </p:txBody>
      </p:sp>
      <p:pic>
        <p:nvPicPr>
          <p:cNvPr id="4" name="Picture 3">
            <a:extLst>
              <a:ext uri="{FF2B5EF4-FFF2-40B4-BE49-F238E27FC236}">
                <a16:creationId xmlns:a16="http://schemas.microsoft.com/office/drawing/2014/main" id="{AD63B282-2FD6-B5C1-A2A1-AF86AF8FD09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03391" y="327432"/>
            <a:ext cx="1084017" cy="1108542"/>
          </a:xfrm>
          <a:prstGeom prst="rect">
            <a:avLst/>
          </a:prstGeom>
        </p:spPr>
      </p:pic>
      <p:pic>
        <p:nvPicPr>
          <p:cNvPr id="5" name="Picture 4">
            <a:extLst>
              <a:ext uri="{FF2B5EF4-FFF2-40B4-BE49-F238E27FC236}">
                <a16:creationId xmlns:a16="http://schemas.microsoft.com/office/drawing/2014/main" id="{261B9D70-2409-7162-8A64-47D1B0B720D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344595" y="211182"/>
            <a:ext cx="1314319" cy="1341043"/>
          </a:xfrm>
          <a:prstGeom prst="rect">
            <a:avLst/>
          </a:prstGeom>
        </p:spPr>
      </p:pic>
      <p:sp>
        <p:nvSpPr>
          <p:cNvPr id="7" name="Rectangle 1">
            <a:extLst>
              <a:ext uri="{FF2B5EF4-FFF2-40B4-BE49-F238E27FC236}">
                <a16:creationId xmlns:a16="http://schemas.microsoft.com/office/drawing/2014/main" id="{9167E343-B7F5-C99A-0917-7B4FA9732481}"/>
              </a:ext>
            </a:extLst>
          </p:cNvPr>
          <p:cNvSpPr>
            <a:spLocks noGrp="1" noChangeArrowheads="1"/>
          </p:cNvSpPr>
          <p:nvPr>
            <p:ph type="subTitle" idx="1"/>
          </p:nvPr>
        </p:nvSpPr>
        <p:spPr bwMode="auto">
          <a:xfrm>
            <a:off x="953232" y="3149230"/>
            <a:ext cx="10013591" cy="11339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marR="0" lvl="0" indent="-285750" algn="l"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endParaRPr kumimoji="0" lang="en-US" altLang="en-US" b="0" i="0" u="none" strike="noStrike" cap="none" normalizeH="0" baseline="0">
              <a:ln>
                <a:noFill/>
              </a:ln>
              <a:solidFill>
                <a:schemeClr val="tx1"/>
              </a:solidFill>
              <a:effectLst/>
              <a:latin typeface="Times" panose="02020603050405020304" pitchFamily="18" charset="0"/>
              <a:cs typeface="Times" panose="02020603050405020304" pitchFamily="18" charset="0"/>
            </a:endParaRPr>
          </a:p>
          <a:p>
            <a:pPr marR="0" lvl="0" algn="l" defTabSz="914400" rtl="0" eaLnBrk="0" fontAlgn="base" latinLnBrk="0" hangingPunct="0">
              <a:lnSpc>
                <a:spcPct val="150000"/>
              </a:lnSpc>
              <a:spcBef>
                <a:spcPct val="0"/>
              </a:spcBef>
              <a:spcAft>
                <a:spcPct val="0"/>
              </a:spcAft>
              <a:buClrTx/>
              <a:buSzTx/>
              <a:tabLst/>
            </a:pPr>
            <a:r>
              <a:rPr kumimoji="0" lang="en-US" altLang="en-US" b="0" i="0" u="none" strike="noStrike" cap="none" normalizeH="0" baseline="0">
                <a:ln>
                  <a:noFill/>
                </a:ln>
                <a:solidFill>
                  <a:schemeClr val="tx1"/>
                </a:solidFill>
                <a:effectLst/>
                <a:latin typeface="Times" panose="02020603050405020304" pitchFamily="18" charset="0"/>
                <a:cs typeface="Times" panose="02020603050405020304" pitchFamily="18" charset="0"/>
              </a:rPr>
              <a:t>  </a:t>
            </a:r>
          </a:p>
        </p:txBody>
      </p:sp>
      <p:sp>
        <p:nvSpPr>
          <p:cNvPr id="9" name="Rectangle 1">
            <a:extLst>
              <a:ext uri="{FF2B5EF4-FFF2-40B4-BE49-F238E27FC236}">
                <a16:creationId xmlns:a16="http://schemas.microsoft.com/office/drawing/2014/main" id="{C12985C2-0460-CFD9-3B74-B70230192487}"/>
              </a:ext>
            </a:extLst>
          </p:cNvPr>
          <p:cNvSpPr>
            <a:spLocks noChangeArrowheads="1"/>
          </p:cNvSpPr>
          <p:nvPr/>
        </p:nvSpPr>
        <p:spPr bwMode="auto">
          <a:xfrm>
            <a:off x="608327" y="2210374"/>
            <a:ext cx="10975343" cy="373031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342900" lvl="0" indent="-342900" algn="just" eaLnBrk="0" fontAlgn="base" hangingPunct="0">
              <a:lnSpc>
                <a:spcPct val="150000"/>
              </a:lnSpc>
              <a:spcBef>
                <a:spcPct val="0"/>
              </a:spcBef>
              <a:spcAft>
                <a:spcPct val="0"/>
              </a:spcAft>
              <a:buFont typeface="Arial" panose="020B0604020202020204" pitchFamily="34" charset="0"/>
              <a:buChar char="•"/>
            </a:pPr>
            <a:r>
              <a:rPr lang="en-IN" altLang="en-US" sz="2000" dirty="0">
                <a:latin typeface="Times" panose="02020603050405020304" pitchFamily="18" charset="0"/>
                <a:cs typeface="Times" panose="02020603050405020304" pitchFamily="18" charset="0"/>
              </a:rPr>
              <a:t>The Clinical Prediction System is an AI-powered healthcare web application developed for disease prediction based on patient symptoms.</a:t>
            </a:r>
          </a:p>
          <a:p>
            <a:pPr marL="342900" lvl="0" indent="-342900" algn="just" eaLnBrk="0" fontAlgn="base" hangingPunct="0">
              <a:lnSpc>
                <a:spcPct val="150000"/>
              </a:lnSpc>
              <a:spcBef>
                <a:spcPct val="0"/>
              </a:spcBef>
              <a:spcAft>
                <a:spcPct val="0"/>
              </a:spcAft>
              <a:buFont typeface="Arial" panose="020B0604020202020204" pitchFamily="34" charset="0"/>
              <a:buChar char="•"/>
            </a:pPr>
            <a:r>
              <a:rPr lang="en-IN" altLang="en-US" sz="2000" dirty="0">
                <a:latin typeface="Times" panose="02020603050405020304" pitchFamily="18" charset="0"/>
                <a:cs typeface="Times" panose="02020603050405020304" pitchFamily="18" charset="0"/>
              </a:rPr>
              <a:t>The system uses Machine Learning algorithms such as Random Forest, KNN, and Logistic Regression for accurate disease analysis.</a:t>
            </a:r>
          </a:p>
          <a:p>
            <a:pPr marL="342900" lvl="0" indent="-342900" algn="just" eaLnBrk="0" fontAlgn="base" hangingPunct="0">
              <a:lnSpc>
                <a:spcPct val="150000"/>
              </a:lnSpc>
              <a:spcBef>
                <a:spcPct val="0"/>
              </a:spcBef>
              <a:spcAft>
                <a:spcPct val="0"/>
              </a:spcAft>
              <a:buFont typeface="Arial" panose="020B0604020202020204" pitchFamily="34" charset="0"/>
              <a:buChar char="•"/>
            </a:pPr>
            <a:r>
              <a:rPr lang="en-IN" altLang="en-US" sz="2000" dirty="0">
                <a:latin typeface="Times" panose="02020603050405020304" pitchFamily="18" charset="0"/>
                <a:cs typeface="Times" panose="02020603050405020304" pitchFamily="18" charset="0"/>
              </a:rPr>
              <a:t>It provides features like appointment booking, email confirmation, and PDF appointment slip generation for patients.</a:t>
            </a:r>
          </a:p>
          <a:p>
            <a:pPr marL="342900" lvl="0" indent="-342900" algn="just" eaLnBrk="0" fontAlgn="base" hangingPunct="0">
              <a:lnSpc>
                <a:spcPct val="150000"/>
              </a:lnSpc>
              <a:spcBef>
                <a:spcPct val="0"/>
              </a:spcBef>
              <a:spcAft>
                <a:spcPct val="0"/>
              </a:spcAft>
              <a:buFont typeface="Arial" panose="020B0604020202020204" pitchFamily="34" charset="0"/>
              <a:buChar char="•"/>
            </a:pPr>
            <a:r>
              <a:rPr lang="en-IN" altLang="en-US" sz="2000" dirty="0">
                <a:latin typeface="Times" panose="02020603050405020304" pitchFamily="18" charset="0"/>
                <a:cs typeface="Times" panose="02020603050405020304" pitchFamily="18" charset="0"/>
              </a:rPr>
              <a:t>The main aim of the project is to provide quick preliminary health predictions and simplify hospital appointment management.</a:t>
            </a:r>
            <a:endParaRPr kumimoji="0" lang="en-US" altLang="en-US" sz="2000" b="0" i="0" u="none" strike="noStrike" cap="none" normalizeH="0" baseline="0" dirty="0">
              <a:ln>
                <a:noFill/>
              </a:ln>
              <a:solidFill>
                <a:schemeClr val="tx1"/>
              </a:solidFill>
              <a:effectLst/>
              <a:latin typeface="Times" panose="02020603050405020304" pitchFamily="18" charset="0"/>
              <a:cs typeface="Times" panose="02020603050405020304" pitchFamily="18" charset="0"/>
            </a:endParaRPr>
          </a:p>
        </p:txBody>
      </p:sp>
      <p:sp>
        <p:nvSpPr>
          <p:cNvPr id="12" name="TextBox 11">
            <a:extLst>
              <a:ext uri="{FF2B5EF4-FFF2-40B4-BE49-F238E27FC236}">
                <a16:creationId xmlns:a16="http://schemas.microsoft.com/office/drawing/2014/main" id="{CBB227B2-D49D-DD5A-A6E4-124B0097A3E2}"/>
              </a:ext>
            </a:extLst>
          </p:cNvPr>
          <p:cNvSpPr txBox="1"/>
          <p:nvPr/>
        </p:nvSpPr>
        <p:spPr>
          <a:xfrm>
            <a:off x="4267199" y="775984"/>
            <a:ext cx="5522260" cy="584775"/>
          </a:xfrm>
          <a:prstGeom prst="rect">
            <a:avLst/>
          </a:prstGeom>
          <a:noFill/>
        </p:spPr>
        <p:txBody>
          <a:bodyPr wrap="square" rtlCol="0">
            <a:spAutoFit/>
          </a:bodyPr>
          <a:lstStyle/>
          <a:p>
            <a:pPr algn="l"/>
            <a:r>
              <a:rPr lang="en-IN" sz="3200" b="1" dirty="0">
                <a:latin typeface="Times New Roman" panose="02020603050405020304" pitchFamily="18" charset="0"/>
                <a:cs typeface="Times New Roman" panose="02020603050405020304" pitchFamily="18" charset="0"/>
              </a:rPr>
              <a:t>INTRODUCTION</a:t>
            </a:r>
            <a:r>
              <a:rPr lang="en-IN" dirty="0">
                <a:latin typeface="Times New Roman" panose="02020603050405020304" pitchFamily="18" charset="0"/>
                <a:cs typeface="Times New Roman" panose="02020603050405020304" pitchFamily="18" charset="0"/>
              </a:rPr>
              <a:t> </a:t>
            </a: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76189522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E55E25-0520-7051-62BA-83CF48C6168D}"/>
            </a:ext>
          </a:extLst>
        </p:cNvPr>
        <p:cNvGrpSpPr/>
        <p:nvPr/>
      </p:nvGrpSpPr>
      <p:grpSpPr>
        <a:xfrm>
          <a:off x="0" y="0"/>
          <a:ext cx="0" cy="0"/>
          <a:chOff x="0" y="0"/>
          <a:chExt cx="0" cy="0"/>
        </a:xfrm>
      </p:grpSpPr>
      <p:sp>
        <p:nvSpPr>
          <p:cNvPr id="7" name="Rectangle 6">
            <a:extLst>
              <a:ext uri="{FF2B5EF4-FFF2-40B4-BE49-F238E27FC236}">
                <a16:creationId xmlns:a16="http://schemas.microsoft.com/office/drawing/2014/main" id="{FFDA5FFE-8692-A8B5-4F65-5E6EE860DA4A}"/>
              </a:ext>
            </a:extLst>
          </p:cNvPr>
          <p:cNvSpPr/>
          <p:nvPr/>
        </p:nvSpPr>
        <p:spPr>
          <a:xfrm>
            <a:off x="244126" y="129013"/>
            <a:ext cx="11703747" cy="6599974"/>
          </a:xfrm>
          <a:prstGeom prst="rect">
            <a:avLst/>
          </a:prstGeom>
          <a:ln w="38100">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IN" dirty="0"/>
          </a:p>
        </p:txBody>
      </p:sp>
      <p:sp>
        <p:nvSpPr>
          <p:cNvPr id="2" name="Title 1">
            <a:extLst>
              <a:ext uri="{FF2B5EF4-FFF2-40B4-BE49-F238E27FC236}">
                <a16:creationId xmlns:a16="http://schemas.microsoft.com/office/drawing/2014/main" id="{F4CE514E-0F03-2954-DD87-26FA995B150E}"/>
              </a:ext>
            </a:extLst>
          </p:cNvPr>
          <p:cNvSpPr>
            <a:spLocks noGrp="1"/>
          </p:cNvSpPr>
          <p:nvPr>
            <p:ph type="title"/>
          </p:nvPr>
        </p:nvSpPr>
        <p:spPr>
          <a:xfrm>
            <a:off x="838200" y="506160"/>
            <a:ext cx="10515600" cy="1325563"/>
          </a:xfrm>
        </p:spPr>
        <p:txBody>
          <a:bodyPr>
            <a:normAutofit/>
          </a:bodyPr>
          <a:lstStyle/>
          <a:p>
            <a:pPr algn="ctr"/>
            <a:r>
              <a:rPr lang="en-IN" sz="3200" b="1" dirty="0">
                <a:latin typeface="Times New Roman" panose="02020603050405020304" pitchFamily="18" charset="0"/>
                <a:cs typeface="Times New Roman" panose="02020603050405020304" pitchFamily="18" charset="0"/>
              </a:rPr>
              <a:t>OBJECTIVE</a:t>
            </a:r>
          </a:p>
        </p:txBody>
      </p:sp>
      <p:pic>
        <p:nvPicPr>
          <p:cNvPr id="4" name="Picture 3">
            <a:extLst>
              <a:ext uri="{FF2B5EF4-FFF2-40B4-BE49-F238E27FC236}">
                <a16:creationId xmlns:a16="http://schemas.microsoft.com/office/drawing/2014/main" id="{BC5322D8-F518-4750-4AB3-0FEDB424C23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389264" y="446782"/>
            <a:ext cx="1314319" cy="1341043"/>
          </a:xfrm>
          <a:prstGeom prst="rect">
            <a:avLst/>
          </a:prstGeom>
        </p:spPr>
      </p:pic>
      <p:pic>
        <p:nvPicPr>
          <p:cNvPr id="5" name="Picture 4">
            <a:extLst>
              <a:ext uri="{FF2B5EF4-FFF2-40B4-BE49-F238E27FC236}">
                <a16:creationId xmlns:a16="http://schemas.microsoft.com/office/drawing/2014/main" id="{DF3B1EF8-A9F3-F27E-2D63-0191D15FFD1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88417" y="505742"/>
            <a:ext cx="1084017" cy="1108542"/>
          </a:xfrm>
          <a:prstGeom prst="rect">
            <a:avLst/>
          </a:prstGeom>
        </p:spPr>
      </p:pic>
      <p:sp>
        <p:nvSpPr>
          <p:cNvPr id="6" name="Rectangle 1">
            <a:extLst>
              <a:ext uri="{FF2B5EF4-FFF2-40B4-BE49-F238E27FC236}">
                <a16:creationId xmlns:a16="http://schemas.microsoft.com/office/drawing/2014/main" id="{22820A5C-C4EE-87C0-A306-68B30F02A0D8}"/>
              </a:ext>
            </a:extLst>
          </p:cNvPr>
          <p:cNvSpPr>
            <a:spLocks noGrp="1" noChangeArrowheads="1"/>
          </p:cNvSpPr>
          <p:nvPr>
            <p:ph idx="1"/>
          </p:nvPr>
        </p:nvSpPr>
        <p:spPr bwMode="auto">
          <a:xfrm>
            <a:off x="838200" y="1578967"/>
            <a:ext cx="7238599" cy="465364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50000"/>
              </a:lnSpc>
              <a:spcBef>
                <a:spcPct val="0"/>
              </a:spcBef>
              <a:spcAft>
                <a:spcPct val="0"/>
              </a:spcAft>
              <a:buClrTx/>
              <a:buSzTx/>
              <a:buFontTx/>
              <a:buNone/>
              <a:tabLst/>
            </a:pPr>
            <a:endParaRPr kumimoji="0" lang="en-US" altLang="en-US" sz="2000" i="0" u="none" strike="noStrike" cap="none" normalizeH="0" baseline="0" dirty="0">
              <a:ln>
                <a:noFill/>
              </a:ln>
              <a:solidFill>
                <a:schemeClr val="tx1"/>
              </a:solidFill>
              <a:effectLst/>
              <a:latin typeface="Times" panose="02020603050405020304" pitchFamily="18" charset="0"/>
              <a:cs typeface="Times" panose="02020603050405020304" pitchFamily="18" charset="0"/>
            </a:endParaRPr>
          </a:p>
          <a:p>
            <a:pPr algn="just" eaLnBrk="0" fontAlgn="base" hangingPunct="0">
              <a:lnSpc>
                <a:spcPct val="150000"/>
              </a:lnSpc>
              <a:spcBef>
                <a:spcPct val="0"/>
              </a:spcBef>
              <a:spcAft>
                <a:spcPct val="0"/>
              </a:spcAft>
            </a:pPr>
            <a:r>
              <a:rPr lang="en-IN" altLang="en-US" sz="2000" dirty="0">
                <a:latin typeface="Times" panose="02020603050405020304" pitchFamily="18" charset="0"/>
                <a:cs typeface="Times" panose="02020603050405020304" pitchFamily="18" charset="0"/>
              </a:rPr>
              <a:t>To develop an AI-based healthcare prediction system.
To predict diseases using Machine Learning algorithms.
To compare Random Forest, KNN, and Logistic Regression accuracies.
To provide appointment booking with hospital and doctor selection.
To maintain patient appointment history securely using a database.
To generate graphical confidence analysis and downloadable PDF reports.</a:t>
            </a:r>
            <a:endParaRPr kumimoji="0" lang="en-US" altLang="en-US" sz="2000" i="0" u="none" strike="noStrike" cap="none" normalizeH="0" baseline="0" dirty="0">
              <a:ln>
                <a:noFill/>
              </a:ln>
              <a:solidFill>
                <a:schemeClr val="tx1"/>
              </a:solidFill>
              <a:effectLst/>
              <a:latin typeface="Times" panose="02020603050405020304" pitchFamily="18" charset="0"/>
              <a:cs typeface="Times" panose="02020603050405020304" pitchFamily="18" charset="0"/>
            </a:endParaRPr>
          </a:p>
        </p:txBody>
      </p:sp>
      <p:pic>
        <p:nvPicPr>
          <p:cNvPr id="3" name="Picture 2">
            <a:extLst>
              <a:ext uri="{FF2B5EF4-FFF2-40B4-BE49-F238E27FC236}">
                <a16:creationId xmlns:a16="http://schemas.microsoft.com/office/drawing/2014/main" id="{300D378A-6F23-F3EB-3010-75FDFDC68BDF}"/>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330476" y="2260057"/>
            <a:ext cx="3023324" cy="3291468"/>
          </a:xfrm>
          <a:prstGeom prst="rect">
            <a:avLst/>
          </a:prstGeom>
          <a:effectLst>
            <a:outerShdw blurRad="50800" dist="38100" dir="5400000" algn="t" rotWithShape="0">
              <a:prstClr val="black">
                <a:alpha val="40000"/>
              </a:prstClr>
            </a:outerShdw>
          </a:effectLst>
        </p:spPr>
      </p:pic>
    </p:spTree>
    <p:extLst>
      <p:ext uri="{BB962C8B-B14F-4D97-AF65-F5344CB8AC3E}">
        <p14:creationId xmlns:p14="http://schemas.microsoft.com/office/powerpoint/2010/main" val="43758534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E55E25-0520-7051-62BA-83CF48C6168D}"/>
            </a:ext>
          </a:extLst>
        </p:cNvPr>
        <p:cNvGrpSpPr/>
        <p:nvPr/>
      </p:nvGrpSpPr>
      <p:grpSpPr>
        <a:xfrm>
          <a:off x="0" y="0"/>
          <a:ext cx="0" cy="0"/>
          <a:chOff x="0" y="0"/>
          <a:chExt cx="0" cy="0"/>
        </a:xfrm>
      </p:grpSpPr>
      <p:sp>
        <p:nvSpPr>
          <p:cNvPr id="7" name="Rectangle 6">
            <a:extLst>
              <a:ext uri="{FF2B5EF4-FFF2-40B4-BE49-F238E27FC236}">
                <a16:creationId xmlns:a16="http://schemas.microsoft.com/office/drawing/2014/main" id="{FFDA5FFE-8692-A8B5-4F65-5E6EE860DA4A}"/>
              </a:ext>
            </a:extLst>
          </p:cNvPr>
          <p:cNvSpPr/>
          <p:nvPr/>
        </p:nvSpPr>
        <p:spPr>
          <a:xfrm>
            <a:off x="244126" y="129013"/>
            <a:ext cx="11703747" cy="6599974"/>
          </a:xfrm>
          <a:prstGeom prst="rect">
            <a:avLst/>
          </a:prstGeom>
          <a:ln w="38100">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IN" dirty="0"/>
          </a:p>
        </p:txBody>
      </p:sp>
      <p:sp>
        <p:nvSpPr>
          <p:cNvPr id="2" name="Title 1">
            <a:extLst>
              <a:ext uri="{FF2B5EF4-FFF2-40B4-BE49-F238E27FC236}">
                <a16:creationId xmlns:a16="http://schemas.microsoft.com/office/drawing/2014/main" id="{F4CE514E-0F03-2954-DD87-26FA995B150E}"/>
              </a:ext>
            </a:extLst>
          </p:cNvPr>
          <p:cNvSpPr>
            <a:spLocks noGrp="1"/>
          </p:cNvSpPr>
          <p:nvPr>
            <p:ph type="title"/>
          </p:nvPr>
        </p:nvSpPr>
        <p:spPr>
          <a:xfrm>
            <a:off x="838200" y="506160"/>
            <a:ext cx="10515600" cy="1325563"/>
          </a:xfrm>
        </p:spPr>
        <p:txBody>
          <a:bodyPr>
            <a:normAutofit/>
          </a:bodyPr>
          <a:lstStyle/>
          <a:p>
            <a:pPr algn="ctr"/>
            <a:r>
              <a:rPr lang="en-IN" sz="3200" b="1" dirty="0">
                <a:latin typeface="Times New Roman" panose="02020603050405020304" pitchFamily="18" charset="0"/>
                <a:cs typeface="Times New Roman" panose="02020603050405020304" pitchFamily="18" charset="0"/>
              </a:rPr>
              <a:t>LITERATURE REVIEW </a:t>
            </a:r>
          </a:p>
        </p:txBody>
      </p:sp>
      <p:pic>
        <p:nvPicPr>
          <p:cNvPr id="4" name="Picture 3">
            <a:extLst>
              <a:ext uri="{FF2B5EF4-FFF2-40B4-BE49-F238E27FC236}">
                <a16:creationId xmlns:a16="http://schemas.microsoft.com/office/drawing/2014/main" id="{BC5322D8-F518-4750-4AB3-0FEDB424C23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389264" y="446782"/>
            <a:ext cx="1314319" cy="1341043"/>
          </a:xfrm>
          <a:prstGeom prst="rect">
            <a:avLst/>
          </a:prstGeom>
        </p:spPr>
      </p:pic>
      <p:pic>
        <p:nvPicPr>
          <p:cNvPr id="5" name="Picture 4">
            <a:extLst>
              <a:ext uri="{FF2B5EF4-FFF2-40B4-BE49-F238E27FC236}">
                <a16:creationId xmlns:a16="http://schemas.microsoft.com/office/drawing/2014/main" id="{DF3B1EF8-A9F3-F27E-2D63-0191D15FFD1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88417" y="505742"/>
            <a:ext cx="1084017" cy="1108542"/>
          </a:xfrm>
          <a:prstGeom prst="rect">
            <a:avLst/>
          </a:prstGeom>
        </p:spPr>
      </p:pic>
      <p:graphicFrame>
        <p:nvGraphicFramePr>
          <p:cNvPr id="11" name="Content Placeholder 4">
            <a:extLst>
              <a:ext uri="{FF2B5EF4-FFF2-40B4-BE49-F238E27FC236}">
                <a16:creationId xmlns:a16="http://schemas.microsoft.com/office/drawing/2014/main" id="{E0EB58DF-DF1B-276A-DF61-A46C38D64594}"/>
              </a:ext>
            </a:extLst>
          </p:cNvPr>
          <p:cNvGraphicFramePr>
            <a:graphicFrameLocks noGrp="1"/>
          </p:cNvGraphicFramePr>
          <p:nvPr>
            <p:ph idx="1"/>
            <p:extLst>
              <p:ext uri="{D42A27DB-BD31-4B8C-83A1-F6EECF244321}">
                <p14:modId xmlns:p14="http://schemas.microsoft.com/office/powerpoint/2010/main" val="1223750022"/>
              </p:ext>
            </p:extLst>
          </p:nvPr>
        </p:nvGraphicFramePr>
        <p:xfrm>
          <a:off x="838201" y="1787825"/>
          <a:ext cx="10515599" cy="4674812"/>
        </p:xfrm>
        <a:graphic>
          <a:graphicData uri="http://schemas.openxmlformats.org/drawingml/2006/table">
            <a:tbl>
              <a:tblPr firstRow="1" bandRow="1">
                <a:tableStyleId>{073A0DAA-6AF3-43AB-8588-CEC1D06C72B9}</a:tableStyleId>
              </a:tblPr>
              <a:tblGrid>
                <a:gridCol w="1707870">
                  <a:extLst>
                    <a:ext uri="{9D8B030D-6E8A-4147-A177-3AD203B41FA5}">
                      <a16:colId xmlns:a16="http://schemas.microsoft.com/office/drawing/2014/main" val="659908746"/>
                    </a:ext>
                  </a:extLst>
                </a:gridCol>
                <a:gridCol w="1317499">
                  <a:extLst>
                    <a:ext uri="{9D8B030D-6E8A-4147-A177-3AD203B41FA5}">
                      <a16:colId xmlns:a16="http://schemas.microsoft.com/office/drawing/2014/main" val="2291977018"/>
                    </a:ext>
                  </a:extLst>
                </a:gridCol>
                <a:gridCol w="975925">
                  <a:extLst>
                    <a:ext uri="{9D8B030D-6E8A-4147-A177-3AD203B41FA5}">
                      <a16:colId xmlns:a16="http://schemas.microsoft.com/office/drawing/2014/main" val="3912423315"/>
                    </a:ext>
                  </a:extLst>
                </a:gridCol>
                <a:gridCol w="3513334">
                  <a:extLst>
                    <a:ext uri="{9D8B030D-6E8A-4147-A177-3AD203B41FA5}">
                      <a16:colId xmlns:a16="http://schemas.microsoft.com/office/drawing/2014/main" val="1395132772"/>
                    </a:ext>
                  </a:extLst>
                </a:gridCol>
                <a:gridCol w="1248370">
                  <a:extLst>
                    <a:ext uri="{9D8B030D-6E8A-4147-A177-3AD203B41FA5}">
                      <a16:colId xmlns:a16="http://schemas.microsoft.com/office/drawing/2014/main" val="379137540"/>
                    </a:ext>
                  </a:extLst>
                </a:gridCol>
                <a:gridCol w="1752601">
                  <a:extLst>
                    <a:ext uri="{9D8B030D-6E8A-4147-A177-3AD203B41FA5}">
                      <a16:colId xmlns:a16="http://schemas.microsoft.com/office/drawing/2014/main" val="786651725"/>
                    </a:ext>
                  </a:extLst>
                </a:gridCol>
              </a:tblGrid>
              <a:tr h="278633">
                <a:tc>
                  <a:txBody>
                    <a:bodyPr/>
                    <a:lstStyle/>
                    <a:p>
                      <a:pPr algn="l" fontAlgn="b">
                        <a:lnSpc>
                          <a:spcPts val="1200"/>
                        </a:lnSpc>
                        <a:buNone/>
                      </a:pPr>
                      <a:r>
                        <a:rPr lang="en-IN" b="1" dirty="0">
                          <a:solidFill>
                            <a:srgbClr val="FFFFFF"/>
                          </a:solidFill>
                          <a:effectLst/>
                          <a:latin typeface="Times New Roman" panose="02020603050405020304" pitchFamily="18" charset="0"/>
                          <a:cs typeface="Times New Roman" panose="02020603050405020304" pitchFamily="18" charset="0"/>
                        </a:rPr>
                        <a:t>Paper Title</a:t>
                      </a:r>
                    </a:p>
                  </a:txBody>
                  <a:tcPr marR="182880" anchor="b"/>
                </a:tc>
                <a:tc>
                  <a:txBody>
                    <a:bodyPr/>
                    <a:lstStyle/>
                    <a:p>
                      <a:pPr algn="l" fontAlgn="b">
                        <a:lnSpc>
                          <a:spcPts val="1200"/>
                        </a:lnSpc>
                        <a:buNone/>
                      </a:pPr>
                      <a:r>
                        <a:rPr lang="en-IN" b="1" dirty="0">
                          <a:solidFill>
                            <a:srgbClr val="FFFFFF"/>
                          </a:solidFill>
                          <a:effectLst/>
                          <a:latin typeface="Times New Roman" panose="02020603050405020304" pitchFamily="18" charset="0"/>
                          <a:cs typeface="Times New Roman" panose="02020603050405020304" pitchFamily="18" charset="0"/>
                        </a:rPr>
                        <a:t>Authors</a:t>
                      </a:r>
                    </a:p>
                  </a:txBody>
                  <a:tcPr marR="182880" anchor="b"/>
                </a:tc>
                <a:tc>
                  <a:txBody>
                    <a:bodyPr/>
                    <a:lstStyle/>
                    <a:p>
                      <a:pPr algn="l" fontAlgn="b">
                        <a:lnSpc>
                          <a:spcPts val="1200"/>
                        </a:lnSpc>
                        <a:buNone/>
                      </a:pPr>
                      <a:r>
                        <a:rPr lang="en-IN" b="1">
                          <a:solidFill>
                            <a:srgbClr val="FFFFFF"/>
                          </a:solidFill>
                          <a:effectLst/>
                          <a:latin typeface="Times New Roman" panose="02020603050405020304" pitchFamily="18" charset="0"/>
                          <a:cs typeface="Times New Roman" panose="02020603050405020304" pitchFamily="18" charset="0"/>
                        </a:rPr>
                        <a:t>Year</a:t>
                      </a:r>
                    </a:p>
                  </a:txBody>
                  <a:tcPr marR="182880" anchor="b"/>
                </a:tc>
                <a:tc>
                  <a:txBody>
                    <a:bodyPr/>
                    <a:lstStyle/>
                    <a:p>
                      <a:pPr algn="l" fontAlgn="b">
                        <a:lnSpc>
                          <a:spcPts val="1200"/>
                        </a:lnSpc>
                        <a:buNone/>
                      </a:pPr>
                      <a:r>
                        <a:rPr lang="en-IN" b="1">
                          <a:solidFill>
                            <a:srgbClr val="FFFFFF"/>
                          </a:solidFill>
                          <a:effectLst/>
                          <a:latin typeface="Times New Roman" panose="02020603050405020304" pitchFamily="18" charset="0"/>
                          <a:cs typeface="Times New Roman" panose="02020603050405020304" pitchFamily="18" charset="0"/>
                        </a:rPr>
                        <a:t>Methodology</a:t>
                      </a:r>
                    </a:p>
                  </a:txBody>
                  <a:tcPr marR="182880" anchor="b"/>
                </a:tc>
                <a:tc>
                  <a:txBody>
                    <a:bodyPr/>
                    <a:lstStyle/>
                    <a:p>
                      <a:pPr algn="l" fontAlgn="b">
                        <a:lnSpc>
                          <a:spcPts val="1200"/>
                        </a:lnSpc>
                        <a:buNone/>
                      </a:pPr>
                      <a:r>
                        <a:rPr lang="en-IN" b="1">
                          <a:solidFill>
                            <a:srgbClr val="FFFFFF"/>
                          </a:solidFill>
                          <a:effectLst/>
                          <a:latin typeface="Times New Roman" panose="02020603050405020304" pitchFamily="18" charset="0"/>
                          <a:cs typeface="Times New Roman" panose="02020603050405020304" pitchFamily="18" charset="0"/>
                        </a:rPr>
                        <a:t>Demerits</a:t>
                      </a:r>
                    </a:p>
                  </a:txBody>
                  <a:tcPr marR="182880" anchor="b"/>
                </a:tc>
                <a:tc>
                  <a:txBody>
                    <a:bodyPr/>
                    <a:lstStyle/>
                    <a:p>
                      <a:pPr algn="l" fontAlgn="b">
                        <a:lnSpc>
                          <a:spcPts val="1200"/>
                        </a:lnSpc>
                        <a:buNone/>
                      </a:pPr>
                      <a:r>
                        <a:rPr lang="en-IN" b="1">
                          <a:solidFill>
                            <a:srgbClr val="FFFFFF"/>
                          </a:solidFill>
                          <a:effectLst/>
                          <a:latin typeface="Times New Roman" panose="02020603050405020304" pitchFamily="18" charset="0"/>
                          <a:cs typeface="Times New Roman" panose="02020603050405020304" pitchFamily="18" charset="0"/>
                        </a:rPr>
                        <a:t>Findings</a:t>
                      </a:r>
                    </a:p>
                  </a:txBody>
                  <a:tcPr anchor="b"/>
                </a:tc>
                <a:extLst>
                  <a:ext uri="{0D108BD9-81ED-4DB2-BD59-A6C34878D82A}">
                    <a16:rowId xmlns:a16="http://schemas.microsoft.com/office/drawing/2014/main" val="901932931"/>
                  </a:ext>
                </a:extLst>
              </a:tr>
              <a:tr h="1470099">
                <a:tc>
                  <a:txBody>
                    <a:bodyPr/>
                    <a:lstStyle/>
                    <a:p>
                      <a:pPr algn="l" fontAlgn="base">
                        <a:buNone/>
                      </a:pPr>
                      <a:r>
                        <a:rPr lang="en-IN" dirty="0">
                          <a:effectLst/>
                          <a:latin typeface="Times New Roman" panose="02020603050405020304" pitchFamily="18" charset="0"/>
                          <a:cs typeface="Times New Roman" panose="02020603050405020304" pitchFamily="18" charset="0"/>
                        </a:rPr>
                        <a:t>Disease Prediction Using Machine Learning Algorithms</a:t>
                      </a:r>
                      <a:endParaRPr lang="en-US" dirty="0">
                        <a:effectLst/>
                        <a:latin typeface="Times New Roman" panose="02020603050405020304" pitchFamily="18" charset="0"/>
                        <a:cs typeface="Times New Roman" panose="02020603050405020304" pitchFamily="18" charset="0"/>
                      </a:endParaRPr>
                    </a:p>
                  </a:txBody>
                  <a:tcPr marR="182880" anchor="ctr"/>
                </a:tc>
                <a:tc>
                  <a:txBody>
                    <a:bodyPr/>
                    <a:lstStyle/>
                    <a:p>
                      <a:pPr algn="l" fontAlgn="base">
                        <a:buNone/>
                      </a:pPr>
                      <a:r>
                        <a:rPr lang="en-IN" dirty="0" err="1">
                          <a:effectLst/>
                          <a:latin typeface="Times New Roman" panose="02020603050405020304" pitchFamily="18" charset="0"/>
                          <a:cs typeface="Times New Roman" panose="02020603050405020304" pitchFamily="18" charset="0"/>
                        </a:rPr>
                        <a:t>R.Kumar</a:t>
                      </a:r>
                      <a:endParaRPr lang="en-IN" dirty="0">
                        <a:effectLst/>
                        <a:latin typeface="Times New Roman" panose="02020603050405020304" pitchFamily="18" charset="0"/>
                        <a:cs typeface="Times New Roman" panose="02020603050405020304" pitchFamily="18" charset="0"/>
                      </a:endParaRPr>
                    </a:p>
                  </a:txBody>
                  <a:tcPr marR="182880" anchor="ctr"/>
                </a:tc>
                <a:tc>
                  <a:txBody>
                    <a:bodyPr/>
                    <a:lstStyle/>
                    <a:p>
                      <a:pPr algn="l" fontAlgn="base">
                        <a:buNone/>
                      </a:pPr>
                      <a:r>
                        <a:rPr lang="en-IN" dirty="0">
                          <a:effectLst/>
                          <a:latin typeface="Times New Roman" panose="02020603050405020304" pitchFamily="18" charset="0"/>
                          <a:cs typeface="Times New Roman" panose="02020603050405020304" pitchFamily="18" charset="0"/>
                        </a:rPr>
                        <a:t>2021</a:t>
                      </a:r>
                    </a:p>
                  </a:txBody>
                  <a:tcPr marR="182880" anchor="ctr"/>
                </a:tc>
                <a:tc>
                  <a:txBody>
                    <a:bodyPr/>
                    <a:lstStyle/>
                    <a:p>
                      <a:pPr algn="l" fontAlgn="base">
                        <a:buNone/>
                      </a:pPr>
                      <a:r>
                        <a:rPr lang="en-IN" dirty="0">
                          <a:effectLst/>
                          <a:latin typeface="Times New Roman" panose="02020603050405020304" pitchFamily="18" charset="0"/>
                          <a:cs typeface="Times New Roman" panose="02020603050405020304" pitchFamily="18" charset="0"/>
                        </a:rPr>
                        <a:t>Used Random Forest, KNN, and Logistic Regression algorithms to predict diseases based on patient symptoms.</a:t>
                      </a:r>
                      <a:endParaRPr lang="en-US" dirty="0">
                        <a:effectLst/>
                        <a:latin typeface="Times New Roman" panose="02020603050405020304" pitchFamily="18" charset="0"/>
                        <a:cs typeface="Times New Roman" panose="02020603050405020304" pitchFamily="18" charset="0"/>
                      </a:endParaRPr>
                    </a:p>
                  </a:txBody>
                  <a:tcPr marR="182880" anchor="ctr"/>
                </a:tc>
                <a:tc>
                  <a:txBody>
                    <a:bodyPr/>
                    <a:lstStyle/>
                    <a:p>
                      <a:pPr algn="l" fontAlgn="base">
                        <a:buNone/>
                      </a:pPr>
                      <a:r>
                        <a:rPr lang="en-IN" dirty="0">
                          <a:effectLst/>
                          <a:latin typeface="Times New Roman" panose="02020603050405020304" pitchFamily="18" charset="0"/>
                          <a:cs typeface="Times New Roman" panose="02020603050405020304" pitchFamily="18" charset="0"/>
                        </a:rPr>
                        <a:t>Lower accuracy for wrong inputs.</a:t>
                      </a:r>
                    </a:p>
                  </a:txBody>
                  <a:tcPr marR="182880" anchor="ctr"/>
                </a:tc>
                <a:tc>
                  <a:txBody>
                    <a:bodyPr/>
                    <a:lstStyle/>
                    <a:p>
                      <a:pPr algn="l" fontAlgn="base">
                        <a:buNone/>
                      </a:pPr>
                      <a:r>
                        <a:rPr lang="en-IN" dirty="0">
                          <a:effectLst/>
                          <a:latin typeface="Times New Roman" panose="02020603050405020304" pitchFamily="18" charset="0"/>
                          <a:cs typeface="Times New Roman" panose="02020603050405020304" pitchFamily="18" charset="0"/>
                        </a:rPr>
                        <a:t>Random Forest gave better accuracy.</a:t>
                      </a:r>
                    </a:p>
                  </a:txBody>
                  <a:tcPr anchor="ctr"/>
                </a:tc>
                <a:extLst>
                  <a:ext uri="{0D108BD9-81ED-4DB2-BD59-A6C34878D82A}">
                    <a16:rowId xmlns:a16="http://schemas.microsoft.com/office/drawing/2014/main" val="214365505"/>
                  </a:ext>
                </a:extLst>
              </a:tr>
              <a:tr h="1287439">
                <a:tc>
                  <a:txBody>
                    <a:bodyPr/>
                    <a:lstStyle/>
                    <a:p>
                      <a:pPr algn="l" fontAlgn="base">
                        <a:buNone/>
                      </a:pPr>
                      <a:r>
                        <a:rPr lang="en-IN" dirty="0">
                          <a:effectLst/>
                          <a:latin typeface="Times New Roman" panose="02020603050405020304" pitchFamily="18" charset="0"/>
                          <a:cs typeface="Times New Roman" panose="02020603050405020304" pitchFamily="18" charset="0"/>
                        </a:rPr>
                        <a:t>Smart Healthcare Appointment Management System</a:t>
                      </a:r>
                      <a:endParaRPr lang="en-US" dirty="0">
                        <a:effectLst/>
                        <a:latin typeface="Times New Roman" panose="02020603050405020304" pitchFamily="18" charset="0"/>
                        <a:cs typeface="Times New Roman" panose="02020603050405020304" pitchFamily="18" charset="0"/>
                      </a:endParaRPr>
                    </a:p>
                  </a:txBody>
                  <a:tcPr marR="182880" anchor="ctr"/>
                </a:tc>
                <a:tc>
                  <a:txBody>
                    <a:bodyPr/>
                    <a:lstStyle/>
                    <a:p>
                      <a:pPr algn="l" fontAlgn="base">
                        <a:buNone/>
                      </a:pPr>
                      <a:r>
                        <a:rPr lang="en-IN" dirty="0" err="1">
                          <a:effectLst/>
                          <a:latin typeface="Times New Roman" panose="02020603050405020304" pitchFamily="18" charset="0"/>
                          <a:cs typeface="Times New Roman" panose="02020603050405020304" pitchFamily="18" charset="0"/>
                        </a:rPr>
                        <a:t>S.Priya</a:t>
                      </a:r>
                      <a:r>
                        <a:rPr lang="en-IN" dirty="0">
                          <a:effectLst/>
                          <a:latin typeface="Times New Roman" panose="02020603050405020304" pitchFamily="18" charset="0"/>
                          <a:cs typeface="Times New Roman" panose="02020603050405020304" pitchFamily="18" charset="0"/>
                        </a:rPr>
                        <a:t> </a:t>
                      </a:r>
                    </a:p>
                  </a:txBody>
                  <a:tcPr marR="182880" anchor="ctr"/>
                </a:tc>
                <a:tc>
                  <a:txBody>
                    <a:bodyPr/>
                    <a:lstStyle/>
                    <a:p>
                      <a:pPr algn="l" fontAlgn="base">
                        <a:buNone/>
                      </a:pPr>
                      <a:r>
                        <a:rPr lang="en-IN" dirty="0">
                          <a:effectLst/>
                          <a:latin typeface="Times New Roman" panose="02020603050405020304" pitchFamily="18" charset="0"/>
                          <a:cs typeface="Times New Roman" panose="02020603050405020304" pitchFamily="18" charset="0"/>
                        </a:rPr>
                        <a:t>2023</a:t>
                      </a:r>
                    </a:p>
                  </a:txBody>
                  <a:tcPr marR="182880" anchor="ctr"/>
                </a:tc>
                <a:tc>
                  <a:txBody>
                    <a:bodyPr/>
                    <a:lstStyle/>
                    <a:p>
                      <a:pPr algn="l" fontAlgn="base">
                        <a:buNone/>
                      </a:pPr>
                      <a:r>
                        <a:rPr lang="en-IN" dirty="0">
                          <a:effectLst/>
                          <a:latin typeface="Times New Roman" panose="02020603050405020304" pitchFamily="18" charset="0"/>
                          <a:cs typeface="Times New Roman" panose="02020603050405020304" pitchFamily="18" charset="0"/>
                        </a:rPr>
                        <a:t>Developed a web-based healthcare system with appointment booking, email notifications, and patient management features.</a:t>
                      </a:r>
                      <a:endParaRPr lang="en-US" dirty="0">
                        <a:effectLst/>
                        <a:latin typeface="Times New Roman" panose="02020603050405020304" pitchFamily="18" charset="0"/>
                        <a:cs typeface="Times New Roman" panose="02020603050405020304" pitchFamily="18" charset="0"/>
                      </a:endParaRPr>
                    </a:p>
                  </a:txBody>
                  <a:tcPr marR="182880" anchor="ctr"/>
                </a:tc>
                <a:tc>
                  <a:txBody>
                    <a:bodyPr/>
                    <a:lstStyle/>
                    <a:p>
                      <a:pPr algn="l" fontAlgn="base">
                        <a:buNone/>
                      </a:pPr>
                      <a:r>
                        <a:rPr lang="en-IN" dirty="0">
                          <a:effectLst/>
                          <a:latin typeface="Times New Roman" panose="02020603050405020304" pitchFamily="18" charset="0"/>
                          <a:cs typeface="Times New Roman" panose="02020603050405020304" pitchFamily="18" charset="0"/>
                        </a:rPr>
                        <a:t>No AI prediction support.</a:t>
                      </a:r>
                    </a:p>
                  </a:txBody>
                  <a:tcPr marR="182880" anchor="ctr"/>
                </a:tc>
                <a:tc>
                  <a:txBody>
                    <a:bodyPr/>
                    <a:lstStyle/>
                    <a:p>
                      <a:pPr algn="l" fontAlgn="base">
                        <a:buNone/>
                      </a:pPr>
                      <a:r>
                        <a:rPr lang="en-IN" dirty="0">
                          <a:effectLst/>
                          <a:latin typeface="Times New Roman" panose="02020603050405020304" pitchFamily="18" charset="0"/>
                          <a:cs typeface="Times New Roman" panose="02020603050405020304" pitchFamily="18" charset="0"/>
                        </a:rPr>
                        <a:t>Improved appointment scheduling.</a:t>
                      </a:r>
                    </a:p>
                  </a:txBody>
                  <a:tcPr anchor="ctr"/>
                </a:tc>
                <a:extLst>
                  <a:ext uri="{0D108BD9-81ED-4DB2-BD59-A6C34878D82A}">
                    <a16:rowId xmlns:a16="http://schemas.microsoft.com/office/drawing/2014/main" val="1374259288"/>
                  </a:ext>
                </a:extLst>
              </a:tr>
              <a:tr h="1287439">
                <a:tc>
                  <a:txBody>
                    <a:bodyPr/>
                    <a:lstStyle/>
                    <a:p>
                      <a:pPr algn="l" fontAlgn="base">
                        <a:buNone/>
                      </a:pPr>
                      <a:r>
                        <a:rPr lang="en-IN" dirty="0">
                          <a:effectLst/>
                          <a:latin typeface="Times New Roman" panose="02020603050405020304" pitchFamily="18" charset="0"/>
                          <a:cs typeface="Times New Roman" panose="02020603050405020304" pitchFamily="18" charset="0"/>
                        </a:rPr>
                        <a:t>AI-Based Clinical Assistance System for Patients</a:t>
                      </a:r>
                      <a:endParaRPr lang="en-US" dirty="0">
                        <a:effectLst/>
                        <a:latin typeface="Times New Roman" panose="02020603050405020304" pitchFamily="18" charset="0"/>
                        <a:cs typeface="Times New Roman" panose="02020603050405020304" pitchFamily="18" charset="0"/>
                      </a:endParaRPr>
                    </a:p>
                  </a:txBody>
                  <a:tcPr marR="182880" anchor="ctr"/>
                </a:tc>
                <a:tc>
                  <a:txBody>
                    <a:bodyPr/>
                    <a:lstStyle/>
                    <a:p>
                      <a:pPr algn="l" fontAlgn="base">
                        <a:buNone/>
                      </a:pPr>
                      <a:r>
                        <a:rPr lang="en-IN" dirty="0" err="1">
                          <a:effectLst/>
                          <a:latin typeface="Times New Roman" panose="02020603050405020304" pitchFamily="18" charset="0"/>
                          <a:cs typeface="Times New Roman" panose="02020603050405020304" pitchFamily="18" charset="0"/>
                        </a:rPr>
                        <a:t>M.Arun</a:t>
                      </a:r>
                      <a:r>
                        <a:rPr lang="en-IN" dirty="0">
                          <a:effectLst/>
                          <a:latin typeface="Times New Roman" panose="02020603050405020304" pitchFamily="18" charset="0"/>
                          <a:cs typeface="Times New Roman" panose="02020603050405020304" pitchFamily="18" charset="0"/>
                        </a:rPr>
                        <a:t> Kumar </a:t>
                      </a:r>
                    </a:p>
                  </a:txBody>
                  <a:tcPr marR="182880" anchor="ctr"/>
                </a:tc>
                <a:tc>
                  <a:txBody>
                    <a:bodyPr/>
                    <a:lstStyle/>
                    <a:p>
                      <a:pPr algn="l" fontAlgn="base">
                        <a:buNone/>
                      </a:pPr>
                      <a:r>
                        <a:rPr lang="en-IN">
                          <a:effectLst/>
                          <a:latin typeface="Times New Roman" panose="02020603050405020304" pitchFamily="18" charset="0"/>
                          <a:cs typeface="Times New Roman" panose="02020603050405020304" pitchFamily="18" charset="0"/>
                        </a:rPr>
                        <a:t>2023</a:t>
                      </a:r>
                    </a:p>
                  </a:txBody>
                  <a:tcPr marR="182880" anchor="ctr"/>
                </a:tc>
                <a:tc>
                  <a:txBody>
                    <a:bodyPr/>
                    <a:lstStyle/>
                    <a:p>
                      <a:pPr algn="l" fontAlgn="base">
                        <a:buNone/>
                      </a:pPr>
                      <a:r>
                        <a:rPr lang="en-IN" dirty="0">
                          <a:effectLst/>
                          <a:latin typeface="Times New Roman" panose="02020603050405020304" pitchFamily="18" charset="0"/>
                          <a:cs typeface="Times New Roman" panose="02020603050405020304" pitchFamily="18" charset="0"/>
                        </a:rPr>
                        <a:t>Implemented AI-based disease prediction with voice assistance and graphical analysis for healthcare support.</a:t>
                      </a:r>
                      <a:endParaRPr lang="en-US" dirty="0">
                        <a:effectLst/>
                        <a:latin typeface="Times New Roman" panose="02020603050405020304" pitchFamily="18" charset="0"/>
                        <a:cs typeface="Times New Roman" panose="02020603050405020304" pitchFamily="18" charset="0"/>
                      </a:endParaRPr>
                    </a:p>
                  </a:txBody>
                  <a:tcPr marR="182880" anchor="ctr"/>
                </a:tc>
                <a:tc>
                  <a:txBody>
                    <a:bodyPr/>
                    <a:lstStyle/>
                    <a:p>
                      <a:pPr algn="l" fontAlgn="base">
                        <a:buNone/>
                      </a:pPr>
                      <a:r>
                        <a:rPr lang="en-IN" dirty="0">
                          <a:effectLst/>
                          <a:latin typeface="Times New Roman" panose="02020603050405020304" pitchFamily="18" charset="0"/>
                          <a:cs typeface="Times New Roman" panose="02020603050405020304" pitchFamily="18" charset="0"/>
                        </a:rPr>
                        <a:t>Depends on dataset quality.</a:t>
                      </a:r>
                    </a:p>
                  </a:txBody>
                  <a:tcPr marR="182880" anchor="ctr"/>
                </a:tc>
                <a:tc>
                  <a:txBody>
                    <a:bodyPr/>
                    <a:lstStyle/>
                    <a:p>
                      <a:pPr algn="l" fontAlgn="base">
                        <a:buNone/>
                      </a:pPr>
                      <a:r>
                        <a:rPr lang="en-IN" dirty="0">
                          <a:effectLst/>
                          <a:latin typeface="Times New Roman" panose="02020603050405020304" pitchFamily="18" charset="0"/>
                          <a:cs typeface="Times New Roman" panose="02020603050405020304" pitchFamily="18" charset="0"/>
                        </a:rPr>
                        <a:t>Provided faster health guidance.</a:t>
                      </a:r>
                    </a:p>
                  </a:txBody>
                  <a:tcPr anchor="ctr"/>
                </a:tc>
                <a:extLst>
                  <a:ext uri="{0D108BD9-81ED-4DB2-BD59-A6C34878D82A}">
                    <a16:rowId xmlns:a16="http://schemas.microsoft.com/office/drawing/2014/main" val="1030667778"/>
                  </a:ext>
                </a:extLst>
              </a:tr>
            </a:tbl>
          </a:graphicData>
        </a:graphic>
      </p:graphicFrame>
    </p:spTree>
    <p:extLst>
      <p:ext uri="{BB962C8B-B14F-4D97-AF65-F5344CB8AC3E}">
        <p14:creationId xmlns:p14="http://schemas.microsoft.com/office/powerpoint/2010/main" val="6055986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027DF7C4-3AF9-4A95-E53B-B14FAA8E1BE1}"/>
              </a:ext>
            </a:extLst>
          </p:cNvPr>
          <p:cNvSpPr/>
          <p:nvPr/>
        </p:nvSpPr>
        <p:spPr>
          <a:xfrm flipV="1">
            <a:off x="320302" y="152400"/>
            <a:ext cx="11551395" cy="6371303"/>
          </a:xfrm>
          <a:prstGeom prst="rect">
            <a:avLst/>
          </a:prstGeom>
          <a:ln w="38100">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IN" dirty="0"/>
          </a:p>
        </p:txBody>
      </p:sp>
      <p:pic>
        <p:nvPicPr>
          <p:cNvPr id="5" name="Picture 4">
            <a:extLst>
              <a:ext uri="{FF2B5EF4-FFF2-40B4-BE49-F238E27FC236}">
                <a16:creationId xmlns:a16="http://schemas.microsoft.com/office/drawing/2014/main" id="{8FE94328-3401-AEC8-853A-7F649F0BB97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81658" y="413667"/>
            <a:ext cx="1084017" cy="1108542"/>
          </a:xfrm>
          <a:prstGeom prst="rect">
            <a:avLst/>
          </a:prstGeom>
        </p:spPr>
      </p:pic>
      <p:pic>
        <p:nvPicPr>
          <p:cNvPr id="6" name="Picture 5">
            <a:extLst>
              <a:ext uri="{FF2B5EF4-FFF2-40B4-BE49-F238E27FC236}">
                <a16:creationId xmlns:a16="http://schemas.microsoft.com/office/drawing/2014/main" id="{2635FC06-4376-6024-1073-05C089F1CC0D}"/>
              </a:ext>
            </a:extLst>
          </p:cNvPr>
          <p:cNvPicPr>
            <a:picLocks noChangeAspect="1"/>
          </p:cNvPicPr>
          <p:nvPr/>
        </p:nvPicPr>
        <p:blipFill>
          <a:blip r:embed="rId3">
            <a:extLst>
              <a:ext uri="{28A0092B-C50C-407E-A947-70E740481C1C}">
                <a14:useLocalDpi xmlns:a14="http://schemas.microsoft.com/office/drawing/2010/main" val="0"/>
              </a:ext>
            </a:extLst>
          </a:blip>
          <a:srcRect l="6121" t="8669" r="4365" b="8669"/>
          <a:stretch>
            <a:fillRect/>
          </a:stretch>
        </p:blipFill>
        <p:spPr>
          <a:xfrm>
            <a:off x="10533839" y="272672"/>
            <a:ext cx="1176503" cy="1108542"/>
          </a:xfrm>
          <a:prstGeom prst="rect">
            <a:avLst/>
          </a:prstGeom>
        </p:spPr>
      </p:pic>
      <p:sp>
        <p:nvSpPr>
          <p:cNvPr id="10" name="Title 1">
            <a:extLst>
              <a:ext uri="{FF2B5EF4-FFF2-40B4-BE49-F238E27FC236}">
                <a16:creationId xmlns:a16="http://schemas.microsoft.com/office/drawing/2014/main" id="{17046796-30E9-9BA1-362E-40284411D171}"/>
              </a:ext>
            </a:extLst>
          </p:cNvPr>
          <p:cNvSpPr>
            <a:spLocks noGrp="1"/>
          </p:cNvSpPr>
          <p:nvPr>
            <p:ph type="title"/>
          </p:nvPr>
        </p:nvSpPr>
        <p:spPr>
          <a:xfrm>
            <a:off x="685800" y="413667"/>
            <a:ext cx="10515600" cy="1325563"/>
          </a:xfrm>
        </p:spPr>
        <p:txBody>
          <a:bodyPr>
            <a:normAutofit/>
          </a:bodyPr>
          <a:lstStyle/>
          <a:p>
            <a:pPr algn="ctr"/>
            <a:r>
              <a:rPr lang="en-IN" sz="3200" b="1" dirty="0">
                <a:latin typeface="Times New Roman" panose="02020603050405020304" pitchFamily="18" charset="0"/>
                <a:cs typeface="Times New Roman" panose="02020603050405020304" pitchFamily="18" charset="0"/>
              </a:rPr>
              <a:t>PROBLEM STATEMENT </a:t>
            </a:r>
          </a:p>
        </p:txBody>
      </p:sp>
      <p:sp>
        <p:nvSpPr>
          <p:cNvPr id="7" name="AutoShape 2" descr="blob:https://web.whatsapp.com/db9e6968-5c3d-4c78-b6f7-03c383aa62bb">
            <a:extLst>
              <a:ext uri="{FF2B5EF4-FFF2-40B4-BE49-F238E27FC236}">
                <a16:creationId xmlns:a16="http://schemas.microsoft.com/office/drawing/2014/main" id="{712BB113-F5B7-463A-A785-8A35D4569971}"/>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2" name="Rectangle 1">
            <a:extLst>
              <a:ext uri="{FF2B5EF4-FFF2-40B4-BE49-F238E27FC236}">
                <a16:creationId xmlns:a16="http://schemas.microsoft.com/office/drawing/2014/main" id="{F4F16BCC-7549-11A9-7132-499AE5841483}"/>
              </a:ext>
            </a:extLst>
          </p:cNvPr>
          <p:cNvSpPr>
            <a:spLocks noChangeArrowheads="1"/>
          </p:cNvSpPr>
          <p:nvPr/>
        </p:nvSpPr>
        <p:spPr bwMode="auto">
          <a:xfrm>
            <a:off x="612817" y="2016385"/>
            <a:ext cx="7480404" cy="373031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342900" lvl="0" indent="-342900" algn="just" eaLnBrk="0" fontAlgn="base" hangingPunct="0">
              <a:lnSpc>
                <a:spcPct val="150000"/>
              </a:lnSpc>
              <a:spcBef>
                <a:spcPct val="0"/>
              </a:spcBef>
              <a:spcAft>
                <a:spcPct val="0"/>
              </a:spcAft>
              <a:buFont typeface="Arial" panose="020B0604020202020204" pitchFamily="34" charset="0"/>
              <a:buChar char="•"/>
            </a:pPr>
            <a:r>
              <a:rPr lang="en-IN" altLang="en-US" sz="2000" dirty="0">
                <a:latin typeface="Times" panose="02020603050405020304" pitchFamily="18" charset="0"/>
                <a:cs typeface="Times" panose="02020603050405020304" pitchFamily="18" charset="0"/>
              </a:rPr>
              <a:t>Traditional healthcare systems require more time for disease identification and appointment scheduling.
Patients often face delays in consultation and limited access to preliminary medical guidance.
Existing healthcare systems lack intelligent disease prediction and digital healthcare support.
Many systems do not include features like graphical analysis, and automated confirmations.</a:t>
            </a:r>
            <a:endParaRPr kumimoji="0" lang="en-US" altLang="en-US" sz="2000" b="0" i="0" u="none" strike="noStrike" cap="none" normalizeH="0" baseline="0" dirty="0">
              <a:ln>
                <a:noFill/>
              </a:ln>
              <a:solidFill>
                <a:schemeClr val="tx1"/>
              </a:solidFill>
              <a:effectLst/>
              <a:latin typeface="Times" panose="02020603050405020304" pitchFamily="18" charset="0"/>
              <a:cs typeface="Times" panose="02020603050405020304" pitchFamily="18" charset="0"/>
            </a:endParaRPr>
          </a:p>
        </p:txBody>
      </p:sp>
      <p:pic>
        <p:nvPicPr>
          <p:cNvPr id="3" name="Picture 2">
            <a:extLst>
              <a:ext uri="{FF2B5EF4-FFF2-40B4-BE49-F238E27FC236}">
                <a16:creationId xmlns:a16="http://schemas.microsoft.com/office/drawing/2014/main" id="{39E4D1E6-1BE2-6C83-0983-E556DA29BC4A}"/>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385735" y="2529122"/>
            <a:ext cx="3079998" cy="2818567"/>
          </a:xfrm>
          <a:prstGeom prst="rect">
            <a:avLst/>
          </a:prstGeom>
        </p:spPr>
      </p:pic>
    </p:spTree>
    <p:extLst>
      <p:ext uri="{BB962C8B-B14F-4D97-AF65-F5344CB8AC3E}">
        <p14:creationId xmlns:p14="http://schemas.microsoft.com/office/powerpoint/2010/main" val="54146067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027DF7C4-3AF9-4A95-E53B-B14FAA8E1BE1}"/>
              </a:ext>
            </a:extLst>
          </p:cNvPr>
          <p:cNvSpPr/>
          <p:nvPr/>
        </p:nvSpPr>
        <p:spPr>
          <a:xfrm flipV="1">
            <a:off x="320302" y="142568"/>
            <a:ext cx="11551395" cy="6371303"/>
          </a:xfrm>
          <a:prstGeom prst="rect">
            <a:avLst/>
          </a:prstGeom>
          <a:ln w="38100">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IN" dirty="0"/>
          </a:p>
        </p:txBody>
      </p:sp>
      <p:pic>
        <p:nvPicPr>
          <p:cNvPr id="5" name="Picture 4">
            <a:extLst>
              <a:ext uri="{FF2B5EF4-FFF2-40B4-BE49-F238E27FC236}">
                <a16:creationId xmlns:a16="http://schemas.microsoft.com/office/drawing/2014/main" id="{8FE94328-3401-AEC8-853A-7F649F0BB97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81658" y="413667"/>
            <a:ext cx="1084017" cy="1108542"/>
          </a:xfrm>
          <a:prstGeom prst="rect">
            <a:avLst/>
          </a:prstGeom>
        </p:spPr>
      </p:pic>
      <p:pic>
        <p:nvPicPr>
          <p:cNvPr id="6" name="Picture 5">
            <a:extLst>
              <a:ext uri="{FF2B5EF4-FFF2-40B4-BE49-F238E27FC236}">
                <a16:creationId xmlns:a16="http://schemas.microsoft.com/office/drawing/2014/main" id="{2635FC06-4376-6024-1073-05C089F1CC0D}"/>
              </a:ext>
            </a:extLst>
          </p:cNvPr>
          <p:cNvPicPr>
            <a:picLocks noChangeAspect="1"/>
          </p:cNvPicPr>
          <p:nvPr/>
        </p:nvPicPr>
        <p:blipFill>
          <a:blip r:embed="rId3">
            <a:extLst>
              <a:ext uri="{28A0092B-C50C-407E-A947-70E740481C1C}">
                <a14:useLocalDpi xmlns:a14="http://schemas.microsoft.com/office/drawing/2010/main" val="0"/>
              </a:ext>
            </a:extLst>
          </a:blip>
          <a:srcRect l="6121" t="8669" r="4365" b="8669"/>
          <a:stretch>
            <a:fillRect/>
          </a:stretch>
        </p:blipFill>
        <p:spPr>
          <a:xfrm>
            <a:off x="10533839" y="272672"/>
            <a:ext cx="1176503" cy="1108542"/>
          </a:xfrm>
          <a:prstGeom prst="rect">
            <a:avLst/>
          </a:prstGeom>
        </p:spPr>
      </p:pic>
      <p:sp>
        <p:nvSpPr>
          <p:cNvPr id="10" name="Title 1">
            <a:extLst>
              <a:ext uri="{FF2B5EF4-FFF2-40B4-BE49-F238E27FC236}">
                <a16:creationId xmlns:a16="http://schemas.microsoft.com/office/drawing/2014/main" id="{17046796-30E9-9BA1-362E-40284411D171}"/>
              </a:ext>
            </a:extLst>
          </p:cNvPr>
          <p:cNvSpPr>
            <a:spLocks noGrp="1"/>
          </p:cNvSpPr>
          <p:nvPr>
            <p:ph type="title"/>
          </p:nvPr>
        </p:nvSpPr>
        <p:spPr>
          <a:xfrm>
            <a:off x="990600" y="196646"/>
            <a:ext cx="10515600" cy="1325563"/>
          </a:xfrm>
        </p:spPr>
        <p:txBody>
          <a:bodyPr>
            <a:normAutofit/>
          </a:bodyPr>
          <a:lstStyle/>
          <a:p>
            <a:pPr algn="ctr"/>
            <a:r>
              <a:rPr lang="en-IN" sz="3200" b="1" dirty="0">
                <a:latin typeface="Times New Roman" panose="02020603050405020304" pitchFamily="18" charset="0"/>
                <a:cs typeface="Times New Roman" panose="02020603050405020304" pitchFamily="18" charset="0"/>
              </a:rPr>
              <a:t>PROPOSED SOLUTION </a:t>
            </a:r>
          </a:p>
        </p:txBody>
      </p:sp>
      <p:sp>
        <p:nvSpPr>
          <p:cNvPr id="7" name="AutoShape 2" descr="blob:https://web.whatsapp.com/db9e6968-5c3d-4c78-b6f7-03c383aa62bb">
            <a:extLst>
              <a:ext uri="{FF2B5EF4-FFF2-40B4-BE49-F238E27FC236}">
                <a16:creationId xmlns:a16="http://schemas.microsoft.com/office/drawing/2014/main" id="{712BB113-F5B7-463A-A785-8A35D4569971}"/>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2" name="Rectangle 1">
            <a:extLst>
              <a:ext uri="{FF2B5EF4-FFF2-40B4-BE49-F238E27FC236}">
                <a16:creationId xmlns:a16="http://schemas.microsoft.com/office/drawing/2014/main" id="{F4F16BCC-7549-11A9-7132-499AE5841483}"/>
              </a:ext>
            </a:extLst>
          </p:cNvPr>
          <p:cNvSpPr>
            <a:spLocks noChangeArrowheads="1"/>
          </p:cNvSpPr>
          <p:nvPr/>
        </p:nvSpPr>
        <p:spPr bwMode="auto">
          <a:xfrm>
            <a:off x="685800" y="1798400"/>
            <a:ext cx="8655424" cy="41919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342900" lvl="0" indent="-342900" algn="just" eaLnBrk="0" fontAlgn="base" hangingPunct="0">
              <a:lnSpc>
                <a:spcPct val="150000"/>
              </a:lnSpc>
              <a:spcBef>
                <a:spcPct val="0"/>
              </a:spcBef>
              <a:spcAft>
                <a:spcPct val="0"/>
              </a:spcAft>
              <a:buFont typeface="Arial" panose="020B0604020202020204" pitchFamily="34" charset="0"/>
              <a:buChar char="•"/>
            </a:pPr>
            <a:r>
              <a:rPr kumimoji="0" lang="en-IN" altLang="en-US" sz="2000" b="0" i="0" u="none" strike="noStrike" cap="none" normalizeH="0" baseline="0" dirty="0">
                <a:ln>
                  <a:noFill/>
                </a:ln>
                <a:solidFill>
                  <a:schemeClr val="tx1"/>
                </a:solidFill>
                <a:effectLst/>
                <a:latin typeface="Times" panose="02020603050405020304" pitchFamily="18" charset="0"/>
                <a:cs typeface="Times" panose="02020603050405020304" pitchFamily="18" charset="0"/>
              </a:rPr>
              <a:t>The proposed system is a web-based Clinical Prediction platform that predicts diseases based on symptoms entered by patients.
The system trains multiple Machine Learning algorithms for disease prediction.
It automatically selects the best-performing model and displays prediction confidence.
The platform provides disease prevention recommendations for patients.
It allows appointment booking with hospitals and doctors, along with appointment confirmation emails.
The system generates PDF appointment slips</a:t>
            </a:r>
            <a:endParaRPr kumimoji="0" lang="en-US" altLang="en-US" sz="2000" b="0" i="0" u="none" strike="noStrike" cap="none" normalizeH="0" baseline="0" dirty="0">
              <a:ln>
                <a:noFill/>
              </a:ln>
              <a:solidFill>
                <a:schemeClr val="tx1"/>
              </a:solidFill>
              <a:effectLst/>
              <a:latin typeface="Times" panose="02020603050405020304" pitchFamily="18" charset="0"/>
              <a:cs typeface="Times" panose="02020603050405020304" pitchFamily="18" charset="0"/>
            </a:endParaRPr>
          </a:p>
        </p:txBody>
      </p:sp>
      <p:pic>
        <p:nvPicPr>
          <p:cNvPr id="3" name="Picture 2">
            <a:extLst>
              <a:ext uri="{FF2B5EF4-FFF2-40B4-BE49-F238E27FC236}">
                <a16:creationId xmlns:a16="http://schemas.microsoft.com/office/drawing/2014/main" id="{AEDABF3D-41C8-0E79-E06E-50BC79EB0452}"/>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339448" y="2571043"/>
            <a:ext cx="2370894" cy="2020714"/>
          </a:xfrm>
          <a:prstGeom prst="rect">
            <a:avLst/>
          </a:prstGeom>
        </p:spPr>
      </p:pic>
    </p:spTree>
    <p:extLst>
      <p:ext uri="{BB962C8B-B14F-4D97-AF65-F5344CB8AC3E}">
        <p14:creationId xmlns:p14="http://schemas.microsoft.com/office/powerpoint/2010/main" val="66642707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953E74F5-AA05-539D-DDC6-97299F1087C5}"/>
              </a:ext>
            </a:extLst>
          </p:cNvPr>
          <p:cNvSpPr/>
          <p:nvPr/>
        </p:nvSpPr>
        <p:spPr>
          <a:xfrm flipV="1">
            <a:off x="-191762" y="569288"/>
            <a:ext cx="11551395" cy="6371303"/>
          </a:xfrm>
          <a:prstGeom prst="rect">
            <a:avLst/>
          </a:prstGeom>
          <a:ln w="38100">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IN"/>
          </a:p>
        </p:txBody>
      </p:sp>
      <p:pic>
        <p:nvPicPr>
          <p:cNvPr id="3" name="Picture 2">
            <a:extLst>
              <a:ext uri="{FF2B5EF4-FFF2-40B4-BE49-F238E27FC236}">
                <a16:creationId xmlns:a16="http://schemas.microsoft.com/office/drawing/2014/main" id="{99EA709E-AFAC-3376-5225-7161A14DF42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81658" y="413667"/>
            <a:ext cx="1084017" cy="1108542"/>
          </a:xfrm>
          <a:prstGeom prst="rect">
            <a:avLst/>
          </a:prstGeom>
        </p:spPr>
      </p:pic>
      <p:pic>
        <p:nvPicPr>
          <p:cNvPr id="4" name="Picture 3">
            <a:extLst>
              <a:ext uri="{FF2B5EF4-FFF2-40B4-BE49-F238E27FC236}">
                <a16:creationId xmlns:a16="http://schemas.microsoft.com/office/drawing/2014/main" id="{1288C086-8961-F059-85ED-34ACBE5CE4AB}"/>
              </a:ext>
            </a:extLst>
          </p:cNvPr>
          <p:cNvPicPr>
            <a:picLocks noChangeAspect="1"/>
          </p:cNvPicPr>
          <p:nvPr/>
        </p:nvPicPr>
        <p:blipFill>
          <a:blip r:embed="rId3">
            <a:extLst>
              <a:ext uri="{28A0092B-C50C-407E-A947-70E740481C1C}">
                <a14:useLocalDpi xmlns:a14="http://schemas.microsoft.com/office/drawing/2010/main" val="0"/>
              </a:ext>
            </a:extLst>
          </a:blip>
          <a:srcRect l="6121" t="8669" r="4365" b="8669"/>
          <a:stretch>
            <a:fillRect/>
          </a:stretch>
        </p:blipFill>
        <p:spPr>
          <a:xfrm>
            <a:off x="10533839" y="272672"/>
            <a:ext cx="1176503" cy="1108542"/>
          </a:xfrm>
          <a:prstGeom prst="rect">
            <a:avLst/>
          </a:prstGeom>
        </p:spPr>
      </p:pic>
      <p:sp>
        <p:nvSpPr>
          <p:cNvPr id="7" name="TextBox 6">
            <a:extLst>
              <a:ext uri="{FF2B5EF4-FFF2-40B4-BE49-F238E27FC236}">
                <a16:creationId xmlns:a16="http://schemas.microsoft.com/office/drawing/2014/main" id="{46818A7A-F38C-18FE-D66D-1855B4C78D46}"/>
              </a:ext>
            </a:extLst>
          </p:cNvPr>
          <p:cNvSpPr txBox="1"/>
          <p:nvPr/>
        </p:nvSpPr>
        <p:spPr>
          <a:xfrm>
            <a:off x="3934437" y="413667"/>
            <a:ext cx="3632433" cy="584775"/>
          </a:xfrm>
          <a:prstGeom prst="rect">
            <a:avLst/>
          </a:prstGeom>
          <a:noFill/>
        </p:spPr>
        <p:txBody>
          <a:bodyPr wrap="square" rtlCol="0">
            <a:spAutoFit/>
          </a:bodyPr>
          <a:lstStyle/>
          <a:p>
            <a:r>
              <a:rPr lang="en-US" sz="3200" b="1" dirty="0">
                <a:latin typeface="Times" panose="02020603050405020304" pitchFamily="18" charset="0"/>
                <a:cs typeface="Times" panose="02020603050405020304" pitchFamily="18" charset="0"/>
              </a:rPr>
              <a:t>ARCHITECTURE</a:t>
            </a:r>
            <a:endParaRPr lang="en-IN" sz="3200" b="1" dirty="0">
              <a:latin typeface="Times" panose="02020603050405020304" pitchFamily="18" charset="0"/>
              <a:cs typeface="Times" panose="02020603050405020304" pitchFamily="18" charset="0"/>
            </a:endParaRPr>
          </a:p>
        </p:txBody>
      </p:sp>
      <p:pic>
        <p:nvPicPr>
          <p:cNvPr id="5" name="Picture 4">
            <a:extLst>
              <a:ext uri="{FF2B5EF4-FFF2-40B4-BE49-F238E27FC236}">
                <a16:creationId xmlns:a16="http://schemas.microsoft.com/office/drawing/2014/main" id="{3CD715A6-5B41-1D85-7F99-F9361BDA06B3}"/>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565675" y="1804395"/>
            <a:ext cx="9515045" cy="5053605"/>
          </a:xfrm>
          <a:prstGeom prst="rect">
            <a:avLst/>
          </a:prstGeom>
        </p:spPr>
      </p:pic>
    </p:spTree>
    <p:extLst>
      <p:ext uri="{BB962C8B-B14F-4D97-AF65-F5344CB8AC3E}">
        <p14:creationId xmlns:p14="http://schemas.microsoft.com/office/powerpoint/2010/main" val="90886967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F09971-D5E0-4320-9D31-7C73845C2D61}"/>
              </a:ext>
            </a:extLst>
          </p:cNvPr>
          <p:cNvSpPr>
            <a:spLocks noGrp="1"/>
          </p:cNvSpPr>
          <p:nvPr>
            <p:ph type="title"/>
          </p:nvPr>
        </p:nvSpPr>
        <p:spPr/>
        <p:txBody>
          <a:bodyPr/>
          <a:lstStyle/>
          <a:p>
            <a:endParaRPr lang="en-IN"/>
          </a:p>
        </p:txBody>
      </p:sp>
      <p:pic>
        <p:nvPicPr>
          <p:cNvPr id="6" name="Content Placeholder 5">
            <a:extLst>
              <a:ext uri="{FF2B5EF4-FFF2-40B4-BE49-F238E27FC236}">
                <a16:creationId xmlns:a16="http://schemas.microsoft.com/office/drawing/2014/main" id="{8FA668E8-9389-5876-E1E0-D2A2EA382D2B}"/>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864247" y="1825625"/>
            <a:ext cx="6827877" cy="3510413"/>
          </a:xfrm>
          <a:prstGeom prst="rect">
            <a:avLst/>
          </a:prstGeom>
        </p:spPr>
      </p:pic>
      <p:sp>
        <p:nvSpPr>
          <p:cNvPr id="4" name="Rectangle 3">
            <a:extLst>
              <a:ext uri="{FF2B5EF4-FFF2-40B4-BE49-F238E27FC236}">
                <a16:creationId xmlns:a16="http://schemas.microsoft.com/office/drawing/2014/main" id="{B6430914-788A-45CE-AD56-8357D6161A40}"/>
              </a:ext>
            </a:extLst>
          </p:cNvPr>
          <p:cNvSpPr/>
          <p:nvPr/>
        </p:nvSpPr>
        <p:spPr>
          <a:xfrm>
            <a:off x="230530" y="129013"/>
            <a:ext cx="11703747" cy="6599974"/>
          </a:xfrm>
          <a:prstGeom prst="rect">
            <a:avLst/>
          </a:prstGeom>
          <a:ln w="38100">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IN" dirty="0"/>
          </a:p>
        </p:txBody>
      </p:sp>
      <p:sp>
        <p:nvSpPr>
          <p:cNvPr id="5" name="Title 1">
            <a:extLst>
              <a:ext uri="{FF2B5EF4-FFF2-40B4-BE49-F238E27FC236}">
                <a16:creationId xmlns:a16="http://schemas.microsoft.com/office/drawing/2014/main" id="{60C8D9CD-FF6E-4BDC-A324-49465EBCB7B4}"/>
              </a:ext>
            </a:extLst>
          </p:cNvPr>
          <p:cNvSpPr txBox="1">
            <a:spLocks/>
          </p:cNvSpPr>
          <p:nvPr/>
        </p:nvSpPr>
        <p:spPr>
          <a:xfrm>
            <a:off x="838200" y="334211"/>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IN" sz="2800" b="1" dirty="0">
                <a:latin typeface="Times New Roman" panose="02020603050405020304" pitchFamily="18" charset="0"/>
                <a:cs typeface="Times New Roman" panose="02020603050405020304" pitchFamily="18" charset="0"/>
              </a:rPr>
              <a:t>MODULE 1: PATIENT AUTHENTICATION AND  MANAGEMENT </a:t>
            </a:r>
          </a:p>
        </p:txBody>
      </p:sp>
      <p:pic>
        <p:nvPicPr>
          <p:cNvPr id="7" name="Picture 6">
            <a:extLst>
              <a:ext uri="{FF2B5EF4-FFF2-40B4-BE49-F238E27FC236}">
                <a16:creationId xmlns:a16="http://schemas.microsoft.com/office/drawing/2014/main" id="{D9E7FD83-A2BA-4658-BCDF-6BB41263419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436753" y="326472"/>
            <a:ext cx="1314319" cy="1341043"/>
          </a:xfrm>
          <a:prstGeom prst="rect">
            <a:avLst/>
          </a:prstGeom>
        </p:spPr>
      </p:pic>
      <p:pic>
        <p:nvPicPr>
          <p:cNvPr id="8" name="Picture 7">
            <a:extLst>
              <a:ext uri="{FF2B5EF4-FFF2-40B4-BE49-F238E27FC236}">
                <a16:creationId xmlns:a16="http://schemas.microsoft.com/office/drawing/2014/main" id="{6B4196A3-3B88-491D-B282-074FDF45373F}"/>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80098" y="405264"/>
            <a:ext cx="1084017" cy="1108542"/>
          </a:xfrm>
          <a:prstGeom prst="rect">
            <a:avLst/>
          </a:prstGeom>
        </p:spPr>
      </p:pic>
      <p:sp>
        <p:nvSpPr>
          <p:cNvPr id="9" name="Rectangle 2">
            <a:extLst>
              <a:ext uri="{FF2B5EF4-FFF2-40B4-BE49-F238E27FC236}">
                <a16:creationId xmlns:a16="http://schemas.microsoft.com/office/drawing/2014/main" id="{18932BB9-17ED-408E-9276-B3B8F0FAD779}"/>
              </a:ext>
            </a:extLst>
          </p:cNvPr>
          <p:cNvSpPr txBox="1">
            <a:spLocks noChangeArrowheads="1"/>
          </p:cNvSpPr>
          <p:nvPr/>
        </p:nvSpPr>
        <p:spPr bwMode="auto">
          <a:xfrm>
            <a:off x="572286" y="2411563"/>
            <a:ext cx="6456043" cy="31917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ctr" anchorCtr="0" compatLnSpc="1">
            <a:prstTxWarp prst="textNoShape">
              <a:avLst/>
            </a:prstTxWarp>
            <a:sp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lnSpc>
                <a:spcPct val="150000"/>
              </a:lnSpc>
            </a:pPr>
            <a:r>
              <a:rPr lang="en-IN" altLang="en-US" sz="2000" dirty="0">
                <a:latin typeface="Times" panose="02020603050405020304" pitchFamily="18" charset="0"/>
                <a:cs typeface="Times" panose="02020603050405020304" pitchFamily="18" charset="0"/>
              </a:rPr>
              <a:t>Provides secure patient registration and login functionality.
Supports multiple patients using the same email with different usernames.
Stores patient details securely using SQLite database.
Includes password strength analysis for secure authentication.</a:t>
            </a:r>
            <a:endParaRPr lang="en-US" altLang="en-US" sz="2000" dirty="0">
              <a:latin typeface="Times" panose="02020603050405020304" pitchFamily="18" charset="0"/>
              <a:cs typeface="Times" panose="02020603050405020304" pitchFamily="18" charset="0"/>
            </a:endParaRPr>
          </a:p>
        </p:txBody>
      </p:sp>
      <p:pic>
        <p:nvPicPr>
          <p:cNvPr id="10" name="Picture 9">
            <a:extLst>
              <a:ext uri="{FF2B5EF4-FFF2-40B4-BE49-F238E27FC236}">
                <a16:creationId xmlns:a16="http://schemas.microsoft.com/office/drawing/2014/main" id="{3EE8504A-82CD-FEC0-A123-8320741BFF39}"/>
              </a:ext>
            </a:extLst>
          </p:cNvPr>
          <p:cNvPicPr>
            <a:picLocks noChangeAspect="1"/>
          </p:cNvPicPr>
          <p:nvPr/>
        </p:nvPicPr>
        <p:blipFill>
          <a:blip r:embed="rId5">
            <a:extLst>
              <a:ext uri="{28A0092B-C50C-407E-A947-70E740481C1C}">
                <a14:useLocalDpi xmlns:a14="http://schemas.microsoft.com/office/drawing/2010/main" val="0"/>
              </a:ext>
            </a:extLst>
          </a:blip>
          <a:srcRect l="24227"/>
          <a:stretch>
            <a:fillRect/>
          </a:stretch>
        </p:blipFill>
        <p:spPr>
          <a:xfrm>
            <a:off x="7370085" y="2298328"/>
            <a:ext cx="4075108" cy="3127855"/>
          </a:xfrm>
          <a:prstGeom prst="rect">
            <a:avLst/>
          </a:prstGeom>
        </p:spPr>
      </p:pic>
    </p:spTree>
    <p:extLst>
      <p:ext uri="{BB962C8B-B14F-4D97-AF65-F5344CB8AC3E}">
        <p14:creationId xmlns:p14="http://schemas.microsoft.com/office/powerpoint/2010/main" val="90236036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F09971-D5E0-4320-9D31-7C73845C2D61}"/>
              </a:ext>
            </a:extLst>
          </p:cNvPr>
          <p:cNvSpPr>
            <a:spLocks noGrp="1"/>
          </p:cNvSpPr>
          <p:nvPr>
            <p:ph type="title"/>
          </p:nvPr>
        </p:nvSpPr>
        <p:spPr/>
        <p:txBody>
          <a:bodyPr/>
          <a:lstStyle/>
          <a:p>
            <a:endParaRPr lang="en-IN"/>
          </a:p>
        </p:txBody>
      </p:sp>
      <p:pic>
        <p:nvPicPr>
          <p:cNvPr id="6" name="Content Placeholder 5">
            <a:extLst>
              <a:ext uri="{FF2B5EF4-FFF2-40B4-BE49-F238E27FC236}">
                <a16:creationId xmlns:a16="http://schemas.microsoft.com/office/drawing/2014/main" id="{AB876529-4D94-02FF-A18A-B0C612DF0C7C}"/>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262643" y="1825625"/>
            <a:ext cx="5666713" cy="4351338"/>
          </a:xfrm>
          <a:prstGeom prst="rect">
            <a:avLst/>
          </a:prstGeom>
        </p:spPr>
      </p:pic>
      <p:sp>
        <p:nvSpPr>
          <p:cNvPr id="4" name="Rectangle 3">
            <a:extLst>
              <a:ext uri="{FF2B5EF4-FFF2-40B4-BE49-F238E27FC236}">
                <a16:creationId xmlns:a16="http://schemas.microsoft.com/office/drawing/2014/main" id="{B6430914-788A-45CE-AD56-8357D6161A40}"/>
              </a:ext>
            </a:extLst>
          </p:cNvPr>
          <p:cNvSpPr/>
          <p:nvPr/>
        </p:nvSpPr>
        <p:spPr>
          <a:xfrm>
            <a:off x="230530" y="129013"/>
            <a:ext cx="11703747" cy="6599974"/>
          </a:xfrm>
          <a:prstGeom prst="rect">
            <a:avLst/>
          </a:prstGeom>
          <a:ln w="38100">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IN" dirty="0"/>
          </a:p>
        </p:txBody>
      </p:sp>
      <p:sp>
        <p:nvSpPr>
          <p:cNvPr id="5" name="Title 1">
            <a:extLst>
              <a:ext uri="{FF2B5EF4-FFF2-40B4-BE49-F238E27FC236}">
                <a16:creationId xmlns:a16="http://schemas.microsoft.com/office/drawing/2014/main" id="{60C8D9CD-FF6E-4BDC-A324-49465EBCB7B4}"/>
              </a:ext>
            </a:extLst>
          </p:cNvPr>
          <p:cNvSpPr txBox="1">
            <a:spLocks/>
          </p:cNvSpPr>
          <p:nvPr/>
        </p:nvSpPr>
        <p:spPr>
          <a:xfrm>
            <a:off x="1574735" y="375655"/>
            <a:ext cx="9015335"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IN" sz="2800" b="1" dirty="0">
                <a:latin typeface="Times New Roman" panose="02020603050405020304" pitchFamily="18" charset="0"/>
                <a:cs typeface="Times New Roman" panose="02020603050405020304" pitchFamily="18" charset="0"/>
              </a:rPr>
              <a:t>MODULE 2: DISEASE PREDICTION USING MACHINE LEARNING </a:t>
            </a:r>
          </a:p>
        </p:txBody>
      </p:sp>
      <p:pic>
        <p:nvPicPr>
          <p:cNvPr id="7" name="Picture 6">
            <a:extLst>
              <a:ext uri="{FF2B5EF4-FFF2-40B4-BE49-F238E27FC236}">
                <a16:creationId xmlns:a16="http://schemas.microsoft.com/office/drawing/2014/main" id="{D9E7FD83-A2BA-4658-BCDF-6BB41263419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436753" y="326472"/>
            <a:ext cx="1314319" cy="1341043"/>
          </a:xfrm>
          <a:prstGeom prst="rect">
            <a:avLst/>
          </a:prstGeom>
        </p:spPr>
      </p:pic>
      <p:pic>
        <p:nvPicPr>
          <p:cNvPr id="8" name="Picture 7">
            <a:extLst>
              <a:ext uri="{FF2B5EF4-FFF2-40B4-BE49-F238E27FC236}">
                <a16:creationId xmlns:a16="http://schemas.microsoft.com/office/drawing/2014/main" id="{6B4196A3-3B88-491D-B282-074FDF45373F}"/>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80098" y="405264"/>
            <a:ext cx="1084017" cy="1108542"/>
          </a:xfrm>
          <a:prstGeom prst="rect">
            <a:avLst/>
          </a:prstGeom>
        </p:spPr>
      </p:pic>
      <p:sp>
        <p:nvSpPr>
          <p:cNvPr id="9" name="Rectangle 2">
            <a:extLst>
              <a:ext uri="{FF2B5EF4-FFF2-40B4-BE49-F238E27FC236}">
                <a16:creationId xmlns:a16="http://schemas.microsoft.com/office/drawing/2014/main" id="{18932BB9-17ED-408E-9276-B3B8F0FAD779}"/>
              </a:ext>
            </a:extLst>
          </p:cNvPr>
          <p:cNvSpPr txBox="1">
            <a:spLocks noChangeArrowheads="1"/>
          </p:cNvSpPr>
          <p:nvPr/>
        </p:nvSpPr>
        <p:spPr bwMode="auto">
          <a:xfrm>
            <a:off x="838200" y="1879655"/>
            <a:ext cx="6185891" cy="424327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ctr" anchorCtr="0" compatLnSpc="1">
            <a:prstTxWarp prst="textNoShape">
              <a:avLst/>
            </a:prstTxWarp>
            <a:sp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lnSpc>
                <a:spcPct val="150000"/>
              </a:lnSpc>
            </a:pPr>
            <a:r>
              <a:rPr lang="en-IN" altLang="en-US" sz="2000" dirty="0">
                <a:latin typeface="Times" panose="02020603050405020304" pitchFamily="18" charset="0"/>
                <a:cs typeface="Times" panose="02020603050405020304" pitchFamily="18" charset="0"/>
              </a:rPr>
              <a:t>Accepts patient symptoms and clinical details as input.
Trains Random Forest, KNN, and Logistic Regression algorithms.
Automatically selects the best model based on highest accuracy.
Displays prediction confidence using graphical analysis.
Generates disease prevention recommendations based on prediction.</a:t>
            </a:r>
            <a:endParaRPr lang="en-US" altLang="en-US" sz="2000" dirty="0">
              <a:latin typeface="Times" panose="02020603050405020304" pitchFamily="18" charset="0"/>
              <a:cs typeface="Times" panose="02020603050405020304" pitchFamily="18" charset="0"/>
            </a:endParaRPr>
          </a:p>
        </p:txBody>
      </p:sp>
      <p:pic>
        <p:nvPicPr>
          <p:cNvPr id="10" name="Picture 9">
            <a:extLst>
              <a:ext uri="{FF2B5EF4-FFF2-40B4-BE49-F238E27FC236}">
                <a16:creationId xmlns:a16="http://schemas.microsoft.com/office/drawing/2014/main" id="{26E76E7A-94D8-C7A5-D388-3E985D1BD30B}"/>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277085" y="2517209"/>
            <a:ext cx="4215667" cy="2856950"/>
          </a:xfrm>
          <a:prstGeom prst="rect">
            <a:avLst/>
          </a:prstGeom>
        </p:spPr>
      </p:pic>
    </p:spTree>
    <p:extLst>
      <p:ext uri="{BB962C8B-B14F-4D97-AF65-F5344CB8AC3E}">
        <p14:creationId xmlns:p14="http://schemas.microsoft.com/office/powerpoint/2010/main" val="237753060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F09971-D5E0-4320-9D31-7C73845C2D61}"/>
              </a:ext>
            </a:extLst>
          </p:cNvPr>
          <p:cNvSpPr>
            <a:spLocks noGrp="1"/>
          </p:cNvSpPr>
          <p:nvPr>
            <p:ph type="title"/>
          </p:nvPr>
        </p:nvSpPr>
        <p:spPr/>
        <p:txBody>
          <a:bodyPr/>
          <a:lstStyle/>
          <a:p>
            <a:endParaRPr lang="en-IN"/>
          </a:p>
        </p:txBody>
      </p:sp>
      <p:pic>
        <p:nvPicPr>
          <p:cNvPr id="6" name="Content Placeholder 5">
            <a:extLst>
              <a:ext uri="{FF2B5EF4-FFF2-40B4-BE49-F238E27FC236}">
                <a16:creationId xmlns:a16="http://schemas.microsoft.com/office/drawing/2014/main" id="{6C32510C-5CC2-3F38-01D9-5579B6A7E091}"/>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244795" y="1825625"/>
            <a:ext cx="5702409" cy="4351338"/>
          </a:xfrm>
          <a:prstGeom prst="rect">
            <a:avLst/>
          </a:prstGeom>
        </p:spPr>
      </p:pic>
      <p:sp>
        <p:nvSpPr>
          <p:cNvPr id="4" name="Rectangle 3">
            <a:extLst>
              <a:ext uri="{FF2B5EF4-FFF2-40B4-BE49-F238E27FC236}">
                <a16:creationId xmlns:a16="http://schemas.microsoft.com/office/drawing/2014/main" id="{B6430914-788A-45CE-AD56-8357D6161A40}"/>
              </a:ext>
            </a:extLst>
          </p:cNvPr>
          <p:cNvSpPr/>
          <p:nvPr/>
        </p:nvSpPr>
        <p:spPr>
          <a:xfrm>
            <a:off x="230530" y="158509"/>
            <a:ext cx="11703747" cy="6599974"/>
          </a:xfrm>
          <a:prstGeom prst="rect">
            <a:avLst/>
          </a:prstGeom>
          <a:ln w="38100">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IN" dirty="0"/>
          </a:p>
        </p:txBody>
      </p:sp>
      <p:sp>
        <p:nvSpPr>
          <p:cNvPr id="5" name="Title 1">
            <a:extLst>
              <a:ext uri="{FF2B5EF4-FFF2-40B4-BE49-F238E27FC236}">
                <a16:creationId xmlns:a16="http://schemas.microsoft.com/office/drawing/2014/main" id="{60C8D9CD-FF6E-4BDC-A324-49465EBCB7B4}"/>
              </a:ext>
            </a:extLst>
          </p:cNvPr>
          <p:cNvSpPr txBox="1">
            <a:spLocks/>
          </p:cNvSpPr>
          <p:nvPr/>
        </p:nvSpPr>
        <p:spPr>
          <a:xfrm>
            <a:off x="869444" y="490043"/>
            <a:ext cx="10224468" cy="1479535"/>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IN" sz="2800" b="1" dirty="0">
                <a:latin typeface="Times New Roman" panose="02020603050405020304" pitchFamily="18" charset="0"/>
                <a:cs typeface="Times New Roman" panose="02020603050405020304" pitchFamily="18" charset="0"/>
              </a:rPr>
              <a:t> MODULE 3:SMART APPOINTMENT BOOKING AND </a:t>
            </a:r>
          </a:p>
          <a:p>
            <a:pPr algn="ctr"/>
            <a:r>
              <a:rPr lang="en-IN" sz="2800" b="1" dirty="0">
                <a:latin typeface="Times New Roman" panose="02020603050405020304" pitchFamily="18" charset="0"/>
                <a:cs typeface="Times New Roman" panose="02020603050405020304" pitchFamily="18" charset="0"/>
              </a:rPr>
              <a:t>REPORT MANAGEMENT </a:t>
            </a:r>
          </a:p>
        </p:txBody>
      </p:sp>
      <p:pic>
        <p:nvPicPr>
          <p:cNvPr id="7" name="Picture 6">
            <a:extLst>
              <a:ext uri="{FF2B5EF4-FFF2-40B4-BE49-F238E27FC236}">
                <a16:creationId xmlns:a16="http://schemas.microsoft.com/office/drawing/2014/main" id="{D9E7FD83-A2BA-4658-BCDF-6BB41263419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436753" y="326472"/>
            <a:ext cx="1314319" cy="1341043"/>
          </a:xfrm>
          <a:prstGeom prst="rect">
            <a:avLst/>
          </a:prstGeom>
        </p:spPr>
      </p:pic>
      <p:pic>
        <p:nvPicPr>
          <p:cNvPr id="8" name="Picture 7">
            <a:extLst>
              <a:ext uri="{FF2B5EF4-FFF2-40B4-BE49-F238E27FC236}">
                <a16:creationId xmlns:a16="http://schemas.microsoft.com/office/drawing/2014/main" id="{6B4196A3-3B88-491D-B282-074FDF45373F}"/>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80098" y="405264"/>
            <a:ext cx="1084017" cy="1108542"/>
          </a:xfrm>
          <a:prstGeom prst="rect">
            <a:avLst/>
          </a:prstGeom>
        </p:spPr>
      </p:pic>
      <p:sp>
        <p:nvSpPr>
          <p:cNvPr id="10" name="Rectangle 2">
            <a:extLst>
              <a:ext uri="{FF2B5EF4-FFF2-40B4-BE49-F238E27FC236}">
                <a16:creationId xmlns:a16="http://schemas.microsoft.com/office/drawing/2014/main" id="{C12EBD35-8053-F126-25CA-596DCE5DDADB}"/>
              </a:ext>
            </a:extLst>
          </p:cNvPr>
          <p:cNvSpPr txBox="1">
            <a:spLocks noChangeArrowheads="1"/>
          </p:cNvSpPr>
          <p:nvPr/>
        </p:nvSpPr>
        <p:spPr bwMode="auto">
          <a:xfrm>
            <a:off x="922107" y="2037047"/>
            <a:ext cx="6393094" cy="44169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ctr" anchorCtr="0" compatLnSpc="1">
            <a:prstTxWarp prst="textNoShape">
              <a:avLst/>
            </a:prstTxWarp>
            <a:sp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lnSpc>
                <a:spcPct val="150000"/>
              </a:lnSpc>
            </a:pPr>
            <a:r>
              <a:rPr lang="en-IN" altLang="en-US" sz="2400" dirty="0">
                <a:latin typeface="Times" panose="02020603050405020304" pitchFamily="18" charset="0"/>
                <a:cs typeface="Times" panose="02020603050405020304" pitchFamily="18" charset="0"/>
              </a:rPr>
              <a:t>Allows patients to select hospitals and doctors.
Supports appointment scheduling with date and time selection.
Sends appointment confirmation through email.
Stores appointment history for future access.
Generates downloadable PDF appointment reports.</a:t>
            </a:r>
            <a:endParaRPr lang="en-US" altLang="en-US" sz="2400" dirty="0">
              <a:latin typeface="Times" panose="02020603050405020304" pitchFamily="18" charset="0"/>
              <a:cs typeface="Times" panose="02020603050405020304" pitchFamily="18" charset="0"/>
            </a:endParaRPr>
          </a:p>
        </p:txBody>
      </p:sp>
      <p:pic>
        <p:nvPicPr>
          <p:cNvPr id="3" name="Picture 2">
            <a:extLst>
              <a:ext uri="{FF2B5EF4-FFF2-40B4-BE49-F238E27FC236}">
                <a16:creationId xmlns:a16="http://schemas.microsoft.com/office/drawing/2014/main" id="{3099BD86-E975-00E5-ADAC-5BCB75087E8A}"/>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723647" y="2314865"/>
            <a:ext cx="3936664" cy="3372857"/>
          </a:xfrm>
          <a:prstGeom prst="rect">
            <a:avLst/>
          </a:prstGeom>
          <a:effectLst>
            <a:outerShdw blurRad="50800" dist="38100" dir="5400000" algn="t" rotWithShape="0">
              <a:prstClr val="black">
                <a:alpha val="40000"/>
              </a:prstClr>
            </a:outerShdw>
          </a:effectLst>
        </p:spPr>
      </p:pic>
    </p:spTree>
    <p:extLst>
      <p:ext uri="{BB962C8B-B14F-4D97-AF65-F5344CB8AC3E}">
        <p14:creationId xmlns:p14="http://schemas.microsoft.com/office/powerpoint/2010/main" val="216023139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7E4BAE-DBF7-421C-9F8D-A7AF7AA7E2A1}"/>
              </a:ext>
            </a:extLst>
          </p:cNvPr>
          <p:cNvSpPr>
            <a:spLocks noGrp="1"/>
          </p:cNvSpPr>
          <p:nvPr>
            <p:ph type="title"/>
          </p:nvPr>
        </p:nvSpPr>
        <p:spPr/>
        <p:txBody>
          <a:bodyPr/>
          <a:lstStyle/>
          <a:p>
            <a:endParaRPr lang="en-IN"/>
          </a:p>
        </p:txBody>
      </p:sp>
      <p:pic>
        <p:nvPicPr>
          <p:cNvPr id="9" name="Content Placeholder 8">
            <a:extLst>
              <a:ext uri="{FF2B5EF4-FFF2-40B4-BE49-F238E27FC236}">
                <a16:creationId xmlns:a16="http://schemas.microsoft.com/office/drawing/2014/main" id="{26D57786-00ED-0C75-0B9D-5038E82A6F3C}"/>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4010581" y="1825625"/>
            <a:ext cx="4170838" cy="4351338"/>
          </a:xfrm>
          <a:prstGeom prst="rect">
            <a:avLst/>
          </a:prstGeom>
        </p:spPr>
      </p:pic>
      <p:sp>
        <p:nvSpPr>
          <p:cNvPr id="4" name="Rectangle 3">
            <a:extLst>
              <a:ext uri="{FF2B5EF4-FFF2-40B4-BE49-F238E27FC236}">
                <a16:creationId xmlns:a16="http://schemas.microsoft.com/office/drawing/2014/main" id="{07B64634-F600-49F6-AEFB-EDC2F9939CA2}"/>
              </a:ext>
            </a:extLst>
          </p:cNvPr>
          <p:cNvSpPr/>
          <p:nvPr/>
        </p:nvSpPr>
        <p:spPr>
          <a:xfrm>
            <a:off x="230530" y="129013"/>
            <a:ext cx="11703747" cy="6599974"/>
          </a:xfrm>
          <a:prstGeom prst="rect">
            <a:avLst/>
          </a:prstGeom>
          <a:ln w="38100">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IN"/>
          </a:p>
        </p:txBody>
      </p:sp>
      <p:sp>
        <p:nvSpPr>
          <p:cNvPr id="5" name="Title 1">
            <a:extLst>
              <a:ext uri="{FF2B5EF4-FFF2-40B4-BE49-F238E27FC236}">
                <a16:creationId xmlns:a16="http://schemas.microsoft.com/office/drawing/2014/main" id="{4D2F35D4-85A9-465B-8337-4BFD6405753D}"/>
              </a:ext>
            </a:extLst>
          </p:cNvPr>
          <p:cNvSpPr txBox="1">
            <a:spLocks/>
          </p:cNvSpPr>
          <p:nvPr/>
        </p:nvSpPr>
        <p:spPr>
          <a:xfrm>
            <a:off x="379677" y="574889"/>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IN" sz="3200" b="1">
                <a:latin typeface="Times New Roman" panose="02020603050405020304" pitchFamily="18" charset="0"/>
                <a:cs typeface="Times New Roman" panose="02020603050405020304" pitchFamily="18" charset="0"/>
              </a:rPr>
              <a:t>FUTURE SCOPE</a:t>
            </a:r>
            <a:endParaRPr lang="en-IN" sz="3200" b="1" dirty="0">
              <a:latin typeface="Times New Roman" panose="02020603050405020304" pitchFamily="18" charset="0"/>
              <a:cs typeface="Times New Roman" panose="02020603050405020304" pitchFamily="18" charset="0"/>
            </a:endParaRPr>
          </a:p>
        </p:txBody>
      </p:sp>
      <p:pic>
        <p:nvPicPr>
          <p:cNvPr id="7" name="Picture 6">
            <a:extLst>
              <a:ext uri="{FF2B5EF4-FFF2-40B4-BE49-F238E27FC236}">
                <a16:creationId xmlns:a16="http://schemas.microsoft.com/office/drawing/2014/main" id="{15A6AFC6-7D8F-402B-95B6-A1E2597E829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436753" y="326472"/>
            <a:ext cx="1314319" cy="1341043"/>
          </a:xfrm>
          <a:prstGeom prst="rect">
            <a:avLst/>
          </a:prstGeom>
        </p:spPr>
      </p:pic>
      <p:pic>
        <p:nvPicPr>
          <p:cNvPr id="8" name="Picture 7">
            <a:extLst>
              <a:ext uri="{FF2B5EF4-FFF2-40B4-BE49-F238E27FC236}">
                <a16:creationId xmlns:a16="http://schemas.microsoft.com/office/drawing/2014/main" id="{9B586BBA-5987-4918-BA89-FB61E85FED72}"/>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80098" y="405264"/>
            <a:ext cx="1084017" cy="1108542"/>
          </a:xfrm>
          <a:prstGeom prst="rect">
            <a:avLst/>
          </a:prstGeom>
        </p:spPr>
      </p:pic>
      <p:sp>
        <p:nvSpPr>
          <p:cNvPr id="6" name="Rectangle 1">
            <a:extLst>
              <a:ext uri="{FF2B5EF4-FFF2-40B4-BE49-F238E27FC236}">
                <a16:creationId xmlns:a16="http://schemas.microsoft.com/office/drawing/2014/main" id="{4D5924B5-1366-B133-C694-7F0AABB9ADF4}"/>
              </a:ext>
            </a:extLst>
          </p:cNvPr>
          <p:cNvSpPr>
            <a:spLocks noChangeArrowheads="1"/>
          </p:cNvSpPr>
          <p:nvPr/>
        </p:nvSpPr>
        <p:spPr bwMode="auto">
          <a:xfrm>
            <a:off x="838199" y="1730827"/>
            <a:ext cx="6046695" cy="44579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342900" lvl="0" indent="-342900" algn="just" eaLnBrk="0" fontAlgn="base" hangingPunct="0">
              <a:lnSpc>
                <a:spcPct val="150000"/>
              </a:lnSpc>
              <a:spcBef>
                <a:spcPct val="0"/>
              </a:spcBef>
              <a:spcAft>
                <a:spcPct val="0"/>
              </a:spcAft>
              <a:buFont typeface="Arial" panose="020B0604020202020204" pitchFamily="34" charset="0"/>
              <a:buChar char="•"/>
            </a:pPr>
            <a:r>
              <a:rPr lang="en-IN" altLang="en-US" sz="2400" dirty="0">
                <a:latin typeface="Times" panose="02020603050405020304" pitchFamily="18" charset="0"/>
                <a:cs typeface="Times" panose="02020603050405020304" pitchFamily="18" charset="0"/>
              </a:rPr>
              <a:t>Integration with real hospital APIs.
Live doctor availability tracking.
AI </a:t>
            </a:r>
            <a:r>
              <a:rPr lang="en-IN" altLang="en-US" sz="2400" dirty="0" err="1">
                <a:latin typeface="Times" panose="02020603050405020304" pitchFamily="18" charset="0"/>
                <a:cs typeface="Times" panose="02020603050405020304" pitchFamily="18" charset="0"/>
              </a:rPr>
              <a:t>chatbot</a:t>
            </a:r>
            <a:r>
              <a:rPr lang="en-IN" altLang="en-US" sz="2400" dirty="0">
                <a:latin typeface="Times" panose="02020603050405020304" pitchFamily="18" charset="0"/>
                <a:cs typeface="Times" panose="02020603050405020304" pitchFamily="18" charset="0"/>
              </a:rPr>
              <a:t> for real-time medical assistance.
Video consultation integration.
Cloud database deployment for large-scale healthcare management.
Mobile application development.
Integration with wearable healthcare devices</a:t>
            </a:r>
            <a:endParaRPr kumimoji="0" lang="en-US" altLang="en-US" sz="2400" b="0" i="0" u="none" strike="noStrike" cap="none" normalizeH="0" baseline="0" dirty="0">
              <a:ln>
                <a:noFill/>
              </a:ln>
              <a:solidFill>
                <a:schemeClr val="tx1"/>
              </a:solidFill>
              <a:effectLst/>
              <a:latin typeface="Times" panose="02020603050405020304" pitchFamily="18" charset="0"/>
              <a:cs typeface="Times" panose="02020603050405020304" pitchFamily="18" charset="0"/>
            </a:endParaRPr>
          </a:p>
        </p:txBody>
      </p:sp>
      <p:pic>
        <p:nvPicPr>
          <p:cNvPr id="10" name="Picture 9">
            <a:extLst>
              <a:ext uri="{FF2B5EF4-FFF2-40B4-BE49-F238E27FC236}">
                <a16:creationId xmlns:a16="http://schemas.microsoft.com/office/drawing/2014/main" id="{331BBDB9-D9B6-A864-B9C7-027EABA5DC44}"/>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229438" y="2184268"/>
            <a:ext cx="4076288" cy="3551070"/>
          </a:xfrm>
          <a:prstGeom prst="rect">
            <a:avLst/>
          </a:prstGeom>
        </p:spPr>
      </p:pic>
    </p:spTree>
    <p:extLst>
      <p:ext uri="{BB962C8B-B14F-4D97-AF65-F5344CB8AC3E}">
        <p14:creationId xmlns:p14="http://schemas.microsoft.com/office/powerpoint/2010/main" val="92160317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FC529A4A-0CA2-B72F-8EA3-E33FDEE6E566}"/>
              </a:ext>
            </a:extLst>
          </p:cNvPr>
          <p:cNvSpPr/>
          <p:nvPr/>
        </p:nvSpPr>
        <p:spPr>
          <a:xfrm>
            <a:off x="192062" y="129013"/>
            <a:ext cx="11703747" cy="6599974"/>
          </a:xfrm>
          <a:prstGeom prst="rect">
            <a:avLst/>
          </a:prstGeom>
          <a:ln w="38100">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IN"/>
          </a:p>
        </p:txBody>
      </p:sp>
      <p:sp>
        <p:nvSpPr>
          <p:cNvPr id="2" name="Title 1">
            <a:extLst>
              <a:ext uri="{FF2B5EF4-FFF2-40B4-BE49-F238E27FC236}">
                <a16:creationId xmlns:a16="http://schemas.microsoft.com/office/drawing/2014/main" id="{96C50084-3AF9-6989-6638-20CA9B7AC26C}"/>
              </a:ext>
            </a:extLst>
          </p:cNvPr>
          <p:cNvSpPr>
            <a:spLocks noGrp="1"/>
          </p:cNvSpPr>
          <p:nvPr>
            <p:ph type="title"/>
          </p:nvPr>
        </p:nvSpPr>
        <p:spPr>
          <a:xfrm>
            <a:off x="786135" y="402764"/>
            <a:ext cx="10515600" cy="1325563"/>
          </a:xfrm>
        </p:spPr>
        <p:txBody>
          <a:bodyPr>
            <a:normAutofit/>
          </a:bodyPr>
          <a:lstStyle/>
          <a:p>
            <a:pPr algn="ctr"/>
            <a:r>
              <a:rPr lang="en-IN" sz="3200" b="1" dirty="0">
                <a:latin typeface="Times New Roman" panose="02020603050405020304" pitchFamily="18" charset="0"/>
                <a:cs typeface="Times New Roman" panose="02020603050405020304" pitchFamily="18" charset="0"/>
              </a:rPr>
              <a:t>CONCLUSION</a:t>
            </a:r>
          </a:p>
        </p:txBody>
      </p:sp>
      <p:pic>
        <p:nvPicPr>
          <p:cNvPr id="4" name="Picture 3">
            <a:extLst>
              <a:ext uri="{FF2B5EF4-FFF2-40B4-BE49-F238E27FC236}">
                <a16:creationId xmlns:a16="http://schemas.microsoft.com/office/drawing/2014/main" id="{B09DCBAD-A99E-AEB8-9FD3-B7A1003C66B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297576" y="243623"/>
            <a:ext cx="1314319" cy="1341043"/>
          </a:xfrm>
          <a:prstGeom prst="rect">
            <a:avLst/>
          </a:prstGeom>
        </p:spPr>
      </p:pic>
      <p:pic>
        <p:nvPicPr>
          <p:cNvPr id="5" name="Picture 4">
            <a:extLst>
              <a:ext uri="{FF2B5EF4-FFF2-40B4-BE49-F238E27FC236}">
                <a16:creationId xmlns:a16="http://schemas.microsoft.com/office/drawing/2014/main" id="{055DD258-C004-0839-9781-84875D5B1AC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96191" y="359873"/>
            <a:ext cx="1084017" cy="1108542"/>
          </a:xfrm>
          <a:prstGeom prst="rect">
            <a:avLst/>
          </a:prstGeom>
        </p:spPr>
      </p:pic>
      <p:sp>
        <p:nvSpPr>
          <p:cNvPr id="6" name="Rectangle 1">
            <a:extLst>
              <a:ext uri="{FF2B5EF4-FFF2-40B4-BE49-F238E27FC236}">
                <a16:creationId xmlns:a16="http://schemas.microsoft.com/office/drawing/2014/main" id="{ED8717BF-7E7D-496F-58DF-51E1CF602339}"/>
              </a:ext>
            </a:extLst>
          </p:cNvPr>
          <p:cNvSpPr>
            <a:spLocks noGrp="1" noChangeArrowheads="1"/>
          </p:cNvSpPr>
          <p:nvPr>
            <p:ph idx="1"/>
          </p:nvPr>
        </p:nvSpPr>
        <p:spPr bwMode="auto">
          <a:xfrm>
            <a:off x="1263125" y="1699275"/>
            <a:ext cx="9561620" cy="44579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gn="just" eaLnBrk="0" fontAlgn="base" hangingPunct="0">
              <a:lnSpc>
                <a:spcPct val="150000"/>
              </a:lnSpc>
              <a:spcBef>
                <a:spcPct val="0"/>
              </a:spcBef>
              <a:spcAft>
                <a:spcPct val="0"/>
              </a:spcAft>
            </a:pPr>
            <a:r>
              <a:rPr lang="en-IN" altLang="en-US" sz="2400" dirty="0">
                <a:latin typeface="Times" panose="02020603050405020304" pitchFamily="18" charset="0"/>
                <a:cs typeface="Times" panose="02020603050405020304" pitchFamily="18" charset="0"/>
              </a:rPr>
              <a:t>The Clinical Prediction System successfully combines Machine Learning and healthcare management into a single intelligent web application. </a:t>
            </a:r>
          </a:p>
          <a:p>
            <a:pPr algn="just" eaLnBrk="0" fontAlgn="base" hangingPunct="0">
              <a:lnSpc>
                <a:spcPct val="150000"/>
              </a:lnSpc>
              <a:spcBef>
                <a:spcPct val="0"/>
              </a:spcBef>
              <a:spcAft>
                <a:spcPct val="0"/>
              </a:spcAft>
            </a:pPr>
            <a:r>
              <a:rPr lang="en-IN" altLang="en-US" sz="2400" dirty="0">
                <a:latin typeface="Times" panose="02020603050405020304" pitchFamily="18" charset="0"/>
                <a:cs typeface="Times" panose="02020603050405020304" pitchFamily="18" charset="0"/>
              </a:rPr>
              <a:t>The system improves disease prediction efficiency, enhances patient accessibility, and automates appointment management.
By integrating AI prediction models, graphical analysis, multilingual support, and secure database management, the project provides a modern and user-friendly healthcare solution suitable for future smart healthcare environments.</a:t>
            </a:r>
            <a:endParaRPr kumimoji="0" lang="en-US" altLang="en-US" sz="2400" i="0" u="none" strike="noStrike" cap="none" normalizeH="0" baseline="0" dirty="0">
              <a:ln>
                <a:noFill/>
              </a:ln>
              <a:solidFill>
                <a:schemeClr val="tx1"/>
              </a:solidFill>
              <a:effectLst/>
              <a:latin typeface="Times" panose="02020603050405020304" pitchFamily="18" charset="0"/>
              <a:cs typeface="Times" panose="02020603050405020304" pitchFamily="18" charset="0"/>
            </a:endParaRPr>
          </a:p>
        </p:txBody>
      </p:sp>
    </p:spTree>
    <p:extLst>
      <p:ext uri="{BB962C8B-B14F-4D97-AF65-F5344CB8AC3E}">
        <p14:creationId xmlns:p14="http://schemas.microsoft.com/office/powerpoint/2010/main" val="30671513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9EDDFB8-A0F2-077D-79C6-745570671197}"/>
              </a:ext>
            </a:extLst>
          </p:cNvPr>
          <p:cNvSpPr/>
          <p:nvPr/>
        </p:nvSpPr>
        <p:spPr>
          <a:xfrm>
            <a:off x="244126" y="129013"/>
            <a:ext cx="11703747" cy="6599974"/>
          </a:xfrm>
          <a:prstGeom prst="rect">
            <a:avLst/>
          </a:prstGeom>
          <a:ln w="38100">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IN"/>
          </a:p>
        </p:txBody>
      </p:sp>
      <p:sp>
        <p:nvSpPr>
          <p:cNvPr id="2" name="Title 1">
            <a:extLst>
              <a:ext uri="{FF2B5EF4-FFF2-40B4-BE49-F238E27FC236}">
                <a16:creationId xmlns:a16="http://schemas.microsoft.com/office/drawing/2014/main" id="{25C9C434-DBC3-9345-2340-D261CAD817AC}"/>
              </a:ext>
            </a:extLst>
          </p:cNvPr>
          <p:cNvSpPr>
            <a:spLocks noGrp="1"/>
          </p:cNvSpPr>
          <p:nvPr>
            <p:ph type="ctrTitle"/>
          </p:nvPr>
        </p:nvSpPr>
        <p:spPr>
          <a:xfrm>
            <a:off x="1523999" y="1392739"/>
            <a:ext cx="9144000" cy="2387600"/>
          </a:xfrm>
        </p:spPr>
        <p:txBody>
          <a:bodyPr>
            <a:noAutofit/>
          </a:bodyPr>
          <a:lstStyle/>
          <a:p>
            <a:r>
              <a:rPr lang="en-US" sz="8800" b="1" dirty="0">
                <a:latin typeface="Times New Roman" panose="02020603050405020304" pitchFamily="18" charset="0"/>
                <a:cs typeface="Times New Roman" panose="02020603050405020304" pitchFamily="18" charset="0"/>
              </a:rPr>
              <a:t>THANK YOU</a:t>
            </a:r>
            <a:endParaRPr lang="en-IN" sz="88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14573405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1108</TotalTime>
  <Words>706</Words>
  <Application>Microsoft Office PowerPoint</Application>
  <PresentationFormat>Widescreen</PresentationFormat>
  <Paragraphs>59</Paragraphs>
  <Slides>13</Slides>
  <Notes>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13</vt:i4>
      </vt:variant>
    </vt:vector>
  </HeadingPairs>
  <TitlesOfParts>
    <vt:vector size="20" baseType="lpstr">
      <vt:lpstr>Arial</vt:lpstr>
      <vt:lpstr>Calibri</vt:lpstr>
      <vt:lpstr>Calibri Light</vt:lpstr>
      <vt:lpstr>Times</vt:lpstr>
      <vt:lpstr>Times New Roman</vt:lpstr>
      <vt:lpstr>Wingdings</vt:lpstr>
      <vt:lpstr>Office Theme</vt:lpstr>
      <vt:lpstr>PowerPoint Presentation</vt:lpstr>
      <vt:lpstr>PowerPoint Presentation</vt:lpstr>
      <vt:lpstr>OBJECTIVE</vt:lpstr>
      <vt:lpstr>LITERATURE REVIEW </vt:lpstr>
      <vt:lpstr>PROBLEM STATEMENT </vt:lpstr>
      <vt:lpstr>PROPOSED SOLUTION </vt:lpstr>
      <vt:lpstr>PowerPoint Presentation</vt:lpstr>
      <vt:lpstr>PowerPoint Presentation</vt:lpstr>
      <vt:lpstr>PowerPoint Presentation</vt:lpstr>
      <vt:lpstr>PowerPoint Presentation</vt:lpstr>
      <vt:lpstr>PowerPoint Presentation</vt:lpstr>
      <vt:lpstr>CONCLUSION</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Harissh M</dc:creator>
  <cp:lastModifiedBy>Amrita Arun</cp:lastModifiedBy>
  <cp:revision>62</cp:revision>
  <dcterms:created xsi:type="dcterms:W3CDTF">2025-08-20T18:11:43Z</dcterms:created>
  <dcterms:modified xsi:type="dcterms:W3CDTF">2026-08-01T05:06:32Z</dcterms:modified>
</cp:coreProperties>
</file>