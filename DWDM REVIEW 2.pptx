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0" r:id="rId4"/>
    <p:sldId id="271" r:id="rId5"/>
    <p:sldId id="272" r:id="rId6"/>
    <p:sldId id="259" r:id="rId7"/>
    <p:sldId id="262" r:id="rId8"/>
    <p:sldId id="273" r:id="rId9"/>
    <p:sldId id="274" r:id="rId10"/>
    <p:sldId id="275" r:id="rId11"/>
    <p:sldId id="279" r:id="rId12"/>
    <p:sldId id="276" r:id="rId13"/>
    <p:sldId id="277" r:id="rId14"/>
    <p:sldId id="278" r:id="rId15"/>
    <p:sldId id="280" r:id="rId1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091A-0B8B-4AF3-BA16-4794FD63149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3CACE-9423-45C0-9D21-75B89C7D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4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0058400" y="2057400"/>
            <a:ext cx="502920" cy="502920"/>
          </a:xfrm>
          <a:prstGeom prst="ellipse">
            <a:avLst/>
          </a:prstGeom>
          <a:solidFill>
            <a:srgbClr val="E6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9189720" y="3108960"/>
            <a:ext cx="502920" cy="502920"/>
          </a:xfrm>
          <a:prstGeom prst="ellipse">
            <a:avLst/>
          </a:prstGeom>
          <a:solidFill>
            <a:srgbClr val="2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0652760" y="3657600"/>
            <a:ext cx="502920" cy="502920"/>
          </a:xfrm>
          <a:prstGeom prst="ellipse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8503920" y="4572000"/>
            <a:ext cx="502920" cy="502920"/>
          </a:xfrm>
          <a:prstGeom prst="ellipse">
            <a:avLst/>
          </a:prstGeom>
          <a:solidFill>
            <a:srgbClr val="6C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2578" y="2202076"/>
            <a:ext cx="603505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1253F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Mining</a:t>
            </a:r>
          </a:p>
          <a:p>
            <a:pPr>
              <a:defRPr sz="3800" b="1">
                <a:solidFill>
                  <a:srgbClr val="269691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Disease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658" y="3760410"/>
            <a:ext cx="5713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CSA1606 — Data Warehousing and Data Mining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2AF84B-1A98-B880-0405-3B38B31DA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7"/>
          <a:stretch>
            <a:fillRect/>
          </a:stretch>
        </p:blipFill>
        <p:spPr>
          <a:xfrm>
            <a:off x="8147411" y="1549497"/>
            <a:ext cx="4053840" cy="53085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A41ADF-8D8B-BFC4-5E0A-5BB686812634}"/>
              </a:ext>
            </a:extLst>
          </p:cNvPr>
          <p:cNvSpPr txBox="1"/>
          <p:nvPr/>
        </p:nvSpPr>
        <p:spPr>
          <a:xfrm>
            <a:off x="594360" y="5417955"/>
            <a:ext cx="242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Dr. S. Renuga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Professor/CSE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SSE-Computer Science and Engineering">
            <a:extLst>
              <a:ext uri="{FF2B5EF4-FFF2-40B4-BE49-F238E27FC236}">
                <a16:creationId xmlns:a16="http://schemas.microsoft.com/office/drawing/2014/main" id="{6CC845D4-4FFC-CE85-B02E-5A9FD26A7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262115"/>
            <a:ext cx="11159613" cy="118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E59AC-6E47-B48C-1ABA-F158D3259155}"/>
              </a:ext>
            </a:extLst>
          </p:cNvPr>
          <p:cNvSpPr txBox="1"/>
          <p:nvPr/>
        </p:nvSpPr>
        <p:spPr>
          <a:xfrm>
            <a:off x="5958348" y="5417955"/>
            <a:ext cx="1794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Arun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 Harshitha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26CA36-6FD4-DE3C-E5A8-86835BB64052}"/>
              </a:ext>
            </a:extLst>
          </p:cNvPr>
          <p:cNvSpPr txBox="1"/>
          <p:nvPr/>
        </p:nvSpPr>
        <p:spPr>
          <a:xfrm>
            <a:off x="727587" y="462116"/>
            <a:ext cx="10599173" cy="5848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contains valuable information that can support early disease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disease identification may require additional consultation time and may not provide immediate preliminary guidance.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clinical prediction platform that collects patient details and symptoms.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is validated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trained Random Forest classification algorithm is used to predict a possible disease.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predicted disease and 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general precautions and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 are stored in a MySQL database for future reference</a:t>
            </a:r>
          </a:p>
        </p:txBody>
      </p:sp>
    </p:spTree>
    <p:extLst>
      <p:ext uri="{BB962C8B-B14F-4D97-AF65-F5344CB8AC3E}">
        <p14:creationId xmlns:p14="http://schemas.microsoft.com/office/powerpoint/2010/main" val="102322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D65003-90C4-6237-EBEE-F06FC97C76B9}"/>
              </a:ext>
            </a:extLst>
          </p:cNvPr>
          <p:cNvSpPr txBox="1"/>
          <p:nvPr/>
        </p:nvSpPr>
        <p:spPr>
          <a:xfrm>
            <a:off x="412955" y="265471"/>
            <a:ext cx="11572568" cy="5848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generate large amounts of patient and symptom-related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and machine learning can be used to identify useful patterns from healthcare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based on symptoms can provide preliminary guidance to users.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Traditional/manual disease identification can take additional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Random Forest classification for symptom-based disease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interface makes the system simple and accessible.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 are stored in MySQL for maintaining prediction history.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Symptoms → Data Preprocessing → Random Forest → Disease Prediction → Confidence + Recommendations → MySQL</a:t>
            </a:r>
          </a:p>
        </p:txBody>
      </p:sp>
    </p:spTree>
    <p:extLst>
      <p:ext uri="{BB962C8B-B14F-4D97-AF65-F5344CB8AC3E}">
        <p14:creationId xmlns:p14="http://schemas.microsoft.com/office/powerpoint/2010/main" val="168103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770FA-D793-1702-5F46-D042F1821FC5}"/>
              </a:ext>
            </a:extLst>
          </p:cNvPr>
          <p:cNvSpPr txBox="1"/>
          <p:nvPr/>
        </p:nvSpPr>
        <p:spPr>
          <a:xfrm>
            <a:off x="757084" y="619433"/>
            <a:ext cx="1034353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identification is often dependent on consultation and manual assessment.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may have limited access to preliminary guidance.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can require additional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existing healthcare systems focus on appointment management rather than intelligent disease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quality can be affected when patient information or symptoms are incomplete or incorrect.</a:t>
            </a:r>
          </a:p>
          <a:p>
            <a:r>
              <a:rPr lang="en-IN" sz="2400" b="1" dirty="0"/>
              <a:t>Limitations</a:t>
            </a:r>
          </a:p>
          <a:p>
            <a:pPr lvl="0"/>
            <a:r>
              <a:rPr lang="en-IN" sz="2400" dirty="0"/>
              <a:t>Time-consuming manual processes. </a:t>
            </a:r>
          </a:p>
          <a:p>
            <a:pPr lvl="0"/>
            <a:r>
              <a:rPr lang="en-IN" sz="2400" dirty="0"/>
              <a:t>Limited immediate preliminary guidance. </a:t>
            </a:r>
          </a:p>
          <a:p>
            <a:pPr lvl="0"/>
            <a:r>
              <a:rPr lang="en-IN" sz="2400" dirty="0"/>
              <a:t>Lack of integrated machine learning prediction in some systems. </a:t>
            </a:r>
          </a:p>
          <a:p>
            <a:pPr lvl="0"/>
            <a:r>
              <a:rPr lang="en-IN" sz="2400" dirty="0"/>
              <a:t>Difficulty handling large symptom-based datasets manually. </a:t>
            </a:r>
          </a:p>
          <a:p>
            <a:pPr lvl="0"/>
            <a:r>
              <a:rPr lang="en-IN" sz="2400" dirty="0"/>
              <a:t>Dependence on accurate patient input.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52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2976A-1C36-8112-169E-B2D50AD80915}"/>
              </a:ext>
            </a:extLst>
          </p:cNvPr>
          <p:cNvSpPr txBox="1"/>
          <p:nvPr/>
        </p:nvSpPr>
        <p:spPr>
          <a:xfrm>
            <a:off x="678426" y="366239"/>
            <a:ext cx="11444748" cy="635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AI-assisted disease prediction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patient details and symptoms through a web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preprocess the submitted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symptoms into the required machine-learning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trained Random Forest model for disease classification.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possible disease prediction with a 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general precautions and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prediction results securely in MySQL. 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Advantage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Input + Automated Processing + ML Prediction + Confidence + Recommendations + History</a:t>
            </a:r>
          </a:p>
        </p:txBody>
      </p:sp>
    </p:spTree>
    <p:extLst>
      <p:ext uri="{BB962C8B-B14F-4D97-AF65-F5344CB8AC3E}">
        <p14:creationId xmlns:p14="http://schemas.microsoft.com/office/powerpoint/2010/main" val="417103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43944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253F"/>
                </a:solidFill>
                <a:latin typeface="Aptos Display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CD2D7C-0666-8C77-25FA-FB53F26F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06092"/>
              </p:ext>
            </p:extLst>
          </p:nvPr>
        </p:nvGraphicFramePr>
        <p:xfrm>
          <a:off x="1620520" y="3268821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55256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89008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7E3A6B9-47F6-6EA7-4512-C8CD1FCE6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644215"/>
              </p:ext>
            </p:extLst>
          </p:nvPr>
        </p:nvGraphicFramePr>
        <p:xfrm>
          <a:off x="562241" y="938046"/>
          <a:ext cx="10843178" cy="5784516"/>
        </p:xfrm>
        <a:graphic>
          <a:graphicData uri="http://schemas.openxmlformats.org/drawingml/2006/table">
            <a:tbl>
              <a:tblPr/>
              <a:tblGrid>
                <a:gridCol w="2300748">
                  <a:extLst>
                    <a:ext uri="{9D8B030D-6E8A-4147-A177-3AD203B41FA5}">
                      <a16:colId xmlns:a16="http://schemas.microsoft.com/office/drawing/2014/main" val="3646020888"/>
                    </a:ext>
                  </a:extLst>
                </a:gridCol>
                <a:gridCol w="1465007">
                  <a:extLst>
                    <a:ext uri="{9D8B030D-6E8A-4147-A177-3AD203B41FA5}">
                      <a16:colId xmlns:a16="http://schemas.microsoft.com/office/drawing/2014/main" val="2715388317"/>
                    </a:ext>
                  </a:extLst>
                </a:gridCol>
                <a:gridCol w="1474839">
                  <a:extLst>
                    <a:ext uri="{9D8B030D-6E8A-4147-A177-3AD203B41FA5}">
                      <a16:colId xmlns:a16="http://schemas.microsoft.com/office/drawing/2014/main" val="2499860410"/>
                    </a:ext>
                  </a:extLst>
                </a:gridCol>
                <a:gridCol w="1612490">
                  <a:extLst>
                    <a:ext uri="{9D8B030D-6E8A-4147-A177-3AD203B41FA5}">
                      <a16:colId xmlns:a16="http://schemas.microsoft.com/office/drawing/2014/main" val="516558735"/>
                    </a:ext>
                  </a:extLst>
                </a:gridCol>
                <a:gridCol w="1465006">
                  <a:extLst>
                    <a:ext uri="{9D8B030D-6E8A-4147-A177-3AD203B41FA5}">
                      <a16:colId xmlns:a16="http://schemas.microsoft.com/office/drawing/2014/main" val="751399471"/>
                    </a:ext>
                  </a:extLst>
                </a:gridCol>
                <a:gridCol w="2525088">
                  <a:extLst>
                    <a:ext uri="{9D8B030D-6E8A-4147-A177-3AD203B41FA5}">
                      <a16:colId xmlns:a16="http://schemas.microsoft.com/office/drawing/2014/main" val="3111744086"/>
                    </a:ext>
                  </a:extLst>
                </a:gridCol>
              </a:tblGrid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628678"/>
                  </a:ext>
                </a:extLst>
              </a:tr>
              <a:tr h="612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Prediction Using ML Algorithms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Various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Symptom-based disease prediction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performed well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wrong inputs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51307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Prediction using Machine Learning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Panchal et al.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disease identification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Random Forest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input quality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924479"/>
                  </a:ext>
                </a:extLst>
              </a:tr>
              <a:tr h="895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Symptom-Based Disease Prediction: A ML Approach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Sirigineedi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Multi-symptom disease prediction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ML models + evaluation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diverse datasets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597633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 Based Disease Prediction Using ML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Sood &amp; Sharma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 preliminary prediction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RF, KNN, DT, NB comparison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dependent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231608"/>
                  </a:ext>
                </a:extLst>
              </a:tr>
              <a:tr h="117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ML Classifiers for Symptom-Based Disease Screening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study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disease screening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classifier comparison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real-world validation</a:t>
                      </a:r>
                    </a:p>
                  </a:txBody>
                  <a:tcPr marL="47145" marR="47145" marT="23573" marB="23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103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253F"/>
                </a:solidFill>
                <a:latin typeface="Aptos Display"/>
              </a:defRPr>
            </a:pPr>
            <a:r>
              <a:t>SYSTEM ARCHITECTURE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62E1E07-4F8A-CF34-21DE-5E268F87B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38" y="1248727"/>
            <a:ext cx="10612123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B8DE3-CC57-6D8C-83F1-B5301834283B}"/>
              </a:ext>
            </a:extLst>
          </p:cNvPr>
          <p:cNvSpPr txBox="1"/>
          <p:nvPr/>
        </p:nvSpPr>
        <p:spPr>
          <a:xfrm>
            <a:off x="344129" y="334297"/>
            <a:ext cx="11375923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WEB INTERFACE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Interface/User Input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user-friendly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patient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symptoms required for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submitted information to the application 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prediction result to the user.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details form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selection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button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Login/registration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HTML/CSS/JavaScript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Enters Patient Details → Selects Symptoms → Submits Form → Data Sent to Application Server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10940-49FC-9BEB-1FD1-AF330724441F}"/>
              </a:ext>
            </a:extLst>
          </p:cNvPr>
          <p:cNvSpPr txBox="1"/>
          <p:nvPr/>
        </p:nvSpPr>
        <p:spPr>
          <a:xfrm>
            <a:off x="7197214" y="1278193"/>
            <a:ext cx="484023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patient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symptoms.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prediction request.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 displayed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219619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FA8B56-5CDF-AA02-A173-C25F2BC47704}"/>
              </a:ext>
            </a:extLst>
          </p:cNvPr>
          <p:cNvSpPr txBox="1"/>
          <p:nvPr/>
        </p:nvSpPr>
        <p:spPr>
          <a:xfrm>
            <a:off x="226141" y="147484"/>
            <a:ext cx="9851923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APPLICATION SERVER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bridge between the user interface and machine-learning model.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patient information from the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user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submitted symptoms.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symptoms into the required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processed data to the prediction engine.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Flask/Python application server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encoding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interface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Input → Validation → Symptom Processing → Feature Conversion → Prediction Engine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E093E-1D1C-4A64-5213-B2DFB27A329C}"/>
              </a:ext>
            </a:extLst>
          </p:cNvPr>
          <p:cNvSpPr txBox="1"/>
          <p:nvPr/>
        </p:nvSpPr>
        <p:spPr>
          <a:xfrm>
            <a:off x="6608791" y="1609033"/>
            <a:ext cx="566373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patient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symptom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ML-ready input sent to the prediction engine.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1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EA532-C786-EE7D-BAF2-CA757468B6A9}"/>
              </a:ext>
            </a:extLst>
          </p:cNvPr>
          <p:cNvSpPr txBox="1"/>
          <p:nvPr/>
        </p:nvSpPr>
        <p:spPr>
          <a:xfrm>
            <a:off x="235974" y="157316"/>
            <a:ext cx="8908026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PREDICTION ENGINE &amp; OUTPUT</a:t>
            </a:r>
          </a:p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machine-learning prediction and result-presentation component.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possible disease from processed symptoms.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prediction confidence.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prediction clearly.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precautions and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prediction result in MySQL.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Random Forest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function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calculation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Symptoms → Random Forest → Disease Prediction → Confidence → Recommendations → MySQL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F5846-D5B9-7062-2D71-F41DFC7841F2}"/>
              </a:ext>
            </a:extLst>
          </p:cNvPr>
          <p:cNvSpPr txBox="1"/>
          <p:nvPr/>
        </p:nvSpPr>
        <p:spPr>
          <a:xfrm>
            <a:off x="7816644" y="2851355"/>
            <a:ext cx="362785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disease.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precautions.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prediction history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4970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8D88AA-AA5F-CD1A-8CD8-3B9CB2655215}"/>
              </a:ext>
            </a:extLst>
          </p:cNvPr>
          <p:cNvSpPr txBox="1"/>
          <p:nvPr/>
        </p:nvSpPr>
        <p:spPr>
          <a:xfrm>
            <a:off x="570271" y="314632"/>
            <a:ext cx="1055984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MODEL TRAINING</a:t>
            </a:r>
          </a:p>
          <a:p>
            <a:pPr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historical disease data for machine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Random Forest classifier.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trained model for future predictions.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disease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preparation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trained model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→ Cleaning → Preprocessing → Training → Evaluation → Model Saving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24D14-0726-2E2A-044D-E6C02149C82F}"/>
              </a:ext>
            </a:extLst>
          </p:cNvPr>
          <p:cNvSpPr txBox="1"/>
          <p:nvPr/>
        </p:nvSpPr>
        <p:spPr>
          <a:xfrm>
            <a:off x="6739866" y="2705725"/>
            <a:ext cx="545213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Random Forest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 used by the Prediction Engine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8714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9BB13-BD0B-9D67-054B-B7B16D8B07AA}"/>
              </a:ext>
            </a:extLst>
          </p:cNvPr>
          <p:cNvSpPr txBox="1"/>
          <p:nvPr/>
        </p:nvSpPr>
        <p:spPr>
          <a:xfrm>
            <a:off x="835741" y="688258"/>
            <a:ext cx="9861756" cy="432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details and symptoms can be collected through the web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information is validated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Random Forest model generates a possible disease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confidence score is displayed with the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precautions and recommendations are provided.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 are stored in MySQL.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prediction information can be maintained for future reference. </a:t>
            </a:r>
          </a:p>
        </p:txBody>
      </p:sp>
    </p:spTree>
    <p:extLst>
      <p:ext uri="{BB962C8B-B14F-4D97-AF65-F5344CB8AC3E}">
        <p14:creationId xmlns:p14="http://schemas.microsoft.com/office/powerpoint/2010/main" val="228346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69764-EE6C-56BF-52A3-F9EEC56CA1DF}"/>
              </a:ext>
            </a:extLst>
          </p:cNvPr>
          <p:cNvSpPr txBox="1"/>
          <p:nvPr/>
        </p:nvSpPr>
        <p:spPr>
          <a:xfrm>
            <a:off x="776748" y="806245"/>
            <a:ext cx="1025504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simple web-based platform for symptom-based disease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is validated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used as the disease classification algorithm.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possible disease along with a 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precautions and recommendations are presented to the user.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information is stored in MySQL.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the application of Data Mining and Machine Learning in healthcare.</a:t>
            </a:r>
          </a:p>
        </p:txBody>
      </p:sp>
    </p:spTree>
    <p:extLst>
      <p:ext uri="{BB962C8B-B14F-4D97-AF65-F5344CB8AC3E}">
        <p14:creationId xmlns:p14="http://schemas.microsoft.com/office/powerpoint/2010/main" val="240795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93953-B372-853E-6534-AD68E935475F}"/>
              </a:ext>
            </a:extLst>
          </p:cNvPr>
          <p:cNvSpPr txBox="1"/>
          <p:nvPr/>
        </p:nvSpPr>
        <p:spPr>
          <a:xfrm>
            <a:off x="934063" y="167148"/>
            <a:ext cx="9960077" cy="5848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API Integration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system with real hospital information systems.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Doctor Availability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information about available doctors and appointments.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Healthcare Chatbot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real-time assistance.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Consultation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connect with healthcare professionals remotely.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Deployment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scalable healthcare data storage. </a:t>
            </a:r>
          </a:p>
        </p:txBody>
      </p:sp>
    </p:spTree>
    <p:extLst>
      <p:ext uri="{BB962C8B-B14F-4D97-AF65-F5344CB8AC3E}">
        <p14:creationId xmlns:p14="http://schemas.microsoft.com/office/powerpoint/2010/main" val="1364661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896EF694-AEF2-DD1C-C790-B5C54D28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191" y="1319212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1086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Amrita Arun</cp:lastModifiedBy>
  <cp:revision>5</cp:revision>
  <dcterms:modified xsi:type="dcterms:W3CDTF">2026-08-20T03:37:48Z</dcterms:modified>
</cp:coreProperties>
</file>