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69" r:id="rId3"/>
    <p:sldId id="270" r:id="rId4"/>
    <p:sldId id="271" r:id="rId5"/>
    <p:sldId id="272" r:id="rId6"/>
    <p:sldId id="259" r:id="rId7"/>
    <p:sldId id="262" r:id="rId8"/>
    <p:sldId id="273" r:id="rId9"/>
    <p:sldId id="274" r:id="rId10"/>
    <p:sldId id="275" r:id="rId11"/>
    <p:sldId id="279" r:id="rId12"/>
    <p:sldId id="276" r:id="rId13"/>
    <p:sldId id="277" r:id="rId14"/>
    <p:sldId id="278" r:id="rId15"/>
    <p:sldId id="280" r:id="rId16"/>
  </p:sldIdLst>
  <p:sldSz cx="12192000" cy="6858000"/>
  <p:notesSz cx="6858000" cy="9144000"/>
  <p:defaultTextStyle>
    <a:defPPr lvl="0">
      <a:defRPr lang="en-US"/>
    </a:defPPr>
    <a:lvl1pPr marL="0" lv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34091A-0B8B-4AF3-BA16-4794FD63149E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F3CACE-9423-45C0-9D21-75B89C7DB9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546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10058400" y="2057400"/>
            <a:ext cx="502920" cy="502920"/>
          </a:xfrm>
          <a:prstGeom prst="ellipse">
            <a:avLst/>
          </a:prstGeom>
          <a:solidFill>
            <a:srgbClr val="E68E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rPr dirty="0"/>
              <a:t>2</a:t>
            </a:r>
          </a:p>
        </p:txBody>
      </p:sp>
      <p:sp>
        <p:nvSpPr>
          <p:cNvPr id="5" name="Oval 4"/>
          <p:cNvSpPr/>
          <p:nvPr/>
        </p:nvSpPr>
        <p:spPr>
          <a:xfrm>
            <a:off x="9189720" y="3108960"/>
            <a:ext cx="502920" cy="502920"/>
          </a:xfrm>
          <a:prstGeom prst="ellipse">
            <a:avLst/>
          </a:prstGeom>
          <a:solidFill>
            <a:srgbClr val="2769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6" name="Oval 5"/>
          <p:cNvSpPr/>
          <p:nvPr/>
        </p:nvSpPr>
        <p:spPr>
          <a:xfrm>
            <a:off x="10652760" y="3657600"/>
            <a:ext cx="502920" cy="502920"/>
          </a:xfrm>
          <a:prstGeom prst="ellipse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7" name="Oval 6"/>
          <p:cNvSpPr/>
          <p:nvPr/>
        </p:nvSpPr>
        <p:spPr>
          <a:xfrm>
            <a:off x="8503920" y="4572000"/>
            <a:ext cx="502920" cy="502920"/>
          </a:xfrm>
          <a:prstGeom prst="ellipse">
            <a:avLst/>
          </a:prstGeom>
          <a:solidFill>
            <a:srgbClr val="6C54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2578" y="2202076"/>
            <a:ext cx="6035050" cy="14465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1253F"/>
                </a:solidFill>
                <a:latin typeface="Aptos Display"/>
              </a:defRPr>
            </a:pPr>
            <a:r>
              <a:rPr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Healthcare Data Mining</a:t>
            </a:r>
          </a:p>
          <a:p>
            <a:pPr>
              <a:defRPr sz="3800" b="1">
                <a:solidFill>
                  <a:srgbClr val="269691"/>
                </a:solidFill>
                <a:latin typeface="Aptos Display"/>
              </a:defRPr>
            </a:pPr>
            <a:r>
              <a:rPr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Disease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3658" y="3760410"/>
            <a:ext cx="57137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28303A"/>
                </a:solidFill>
                <a:latin typeface="Aptos"/>
              </a:defRPr>
            </a:pPr>
            <a:r>
              <a:rPr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CSA1606 — Data Warehousing and Data Mining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22AF84B-1A98-B880-0405-3B38B31DA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227"/>
          <a:stretch>
            <a:fillRect/>
          </a:stretch>
        </p:blipFill>
        <p:spPr>
          <a:xfrm>
            <a:off x="8147411" y="1549497"/>
            <a:ext cx="4053840" cy="530850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4A41ADF-8D8B-BFC4-5E0A-5BB686812634}"/>
              </a:ext>
            </a:extLst>
          </p:cNvPr>
          <p:cNvSpPr txBox="1"/>
          <p:nvPr/>
        </p:nvSpPr>
        <p:spPr>
          <a:xfrm>
            <a:off x="594360" y="5417955"/>
            <a:ext cx="24269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Faculty: Dr. S. Renuga</a:t>
            </a:r>
          </a:p>
          <a:p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2" descr="SSE-Computer Science and Engineering">
            <a:extLst>
              <a:ext uri="{FF2B5EF4-FFF2-40B4-BE49-F238E27FC236}">
                <a16:creationId xmlns:a16="http://schemas.microsoft.com/office/drawing/2014/main" id="{6CC845D4-4FFC-CE85-B02E-5A9FD26A77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432" y="262115"/>
            <a:ext cx="11159613" cy="1182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C0E59AC-6E47-B48C-1ABA-F158D3259155}"/>
              </a:ext>
            </a:extLst>
          </p:cNvPr>
          <p:cNvSpPr txBox="1"/>
          <p:nvPr/>
        </p:nvSpPr>
        <p:spPr>
          <a:xfrm>
            <a:off x="5958348" y="5417955"/>
            <a:ext cx="17940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by: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Amrita Arun</a:t>
            </a:r>
            <a:b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Hima Harshitha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26CA36-6FD4-DE3C-E5A8-86835BB64052}"/>
              </a:ext>
            </a:extLst>
          </p:cNvPr>
          <p:cNvSpPr txBox="1"/>
          <p:nvPr/>
        </p:nvSpPr>
        <p:spPr>
          <a:xfrm>
            <a:off x="727587" y="462116"/>
            <a:ext cx="10599173" cy="5848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Healthcare data contains valuable information that can support early disease prediction.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disease identification may require additional consultation time and may not provide immediate preliminary guidance.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proposed system is a web-based clinical prediction platform that collects patient details and symptoms.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input data is validated and </a:t>
            </a:r>
            <a:r>
              <a:rPr lang="en-IN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preprocessed</a:t>
            </a: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before prediction.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trained Random Forest classification algorithm is used to predict a possible disease.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displays the predicted disease and confidence score.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also provides general precautions and recommendations.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 results are stored in a MySQL database for future reference</a:t>
            </a:r>
          </a:p>
        </p:txBody>
      </p:sp>
    </p:spTree>
    <p:extLst>
      <p:ext uri="{BB962C8B-B14F-4D97-AF65-F5344CB8AC3E}">
        <p14:creationId xmlns:p14="http://schemas.microsoft.com/office/powerpoint/2010/main" val="1023221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5D65003-90C4-6237-EBEE-F06FC97C76B9}"/>
              </a:ext>
            </a:extLst>
          </p:cNvPr>
          <p:cNvSpPr txBox="1"/>
          <p:nvPr/>
        </p:nvSpPr>
        <p:spPr>
          <a:xfrm>
            <a:off x="412955" y="265471"/>
            <a:ext cx="11572568" cy="5848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Healthcare systems generate large amounts of patient and symptom-related data.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mining and machine learning can be used to identify useful patterns from healthcare data.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Disease prediction based on symptoms can provide preliminary guidance to users.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Traditional/manual disease identification can take additional time.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proposed system uses Random Forest classification for symptom-based disease prediction.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web interface makes the system simple and accessible.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 results are stored in MySQL for maintaining prediction history. </a:t>
            </a:r>
          </a:p>
          <a:p>
            <a:pPr>
              <a:lnSpc>
                <a:spcPct val="150000"/>
              </a:lnSpc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 Idea</a:t>
            </a:r>
          </a:p>
          <a:p>
            <a:pPr>
              <a:lnSpc>
                <a:spcPct val="150000"/>
              </a:lnSpc>
              <a:buNone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Patient Symptoms → Data Preprocessing → Random Forest → Disease Prediction → Confidence + Recommendations → MySQL</a:t>
            </a:r>
          </a:p>
        </p:txBody>
      </p:sp>
    </p:spTree>
    <p:extLst>
      <p:ext uri="{BB962C8B-B14F-4D97-AF65-F5344CB8AC3E}">
        <p14:creationId xmlns:p14="http://schemas.microsoft.com/office/powerpoint/2010/main" val="16810345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4770FA-D793-1702-5F46-D042F1821FC5}"/>
              </a:ext>
            </a:extLst>
          </p:cNvPr>
          <p:cNvSpPr txBox="1"/>
          <p:nvPr/>
        </p:nvSpPr>
        <p:spPr>
          <a:xfrm>
            <a:off x="757084" y="619433"/>
            <a:ext cx="10343536" cy="584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SYSTEM</a:t>
            </a:r>
          </a:p>
          <a:p>
            <a:pPr>
              <a:buNone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Approach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Disease identification is often dependent on consultation and manual assessment.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Patients may have limited access to preliminary guidance.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identification can require additional time.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existing healthcare systems focus on appointment management rather than intelligent disease prediction.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 quality can be affected when patient information or symptoms are incomplete or incorrect.</a:t>
            </a:r>
          </a:p>
          <a:p>
            <a:r>
              <a:rPr lang="en-IN" sz="2400" b="1" dirty="0"/>
              <a:t>Limitations</a:t>
            </a:r>
          </a:p>
          <a:p>
            <a:pPr lvl="0"/>
            <a:r>
              <a:rPr lang="en-IN" sz="2400" dirty="0"/>
              <a:t>Time-consuming manual processes. </a:t>
            </a:r>
          </a:p>
          <a:p>
            <a:pPr lvl="0"/>
            <a:r>
              <a:rPr lang="en-IN" sz="2400" dirty="0"/>
              <a:t>Limited immediate preliminary guidance. </a:t>
            </a:r>
          </a:p>
          <a:p>
            <a:pPr lvl="0"/>
            <a:r>
              <a:rPr lang="en-IN" sz="2400" dirty="0"/>
              <a:t>Lack of integrated machine learning prediction in some systems. </a:t>
            </a:r>
          </a:p>
          <a:p>
            <a:pPr lvl="0"/>
            <a:r>
              <a:rPr lang="en-IN" sz="2400" dirty="0"/>
              <a:t>Difficulty handling large symptom-based datasets manually. </a:t>
            </a:r>
          </a:p>
          <a:p>
            <a:pPr lvl="0"/>
            <a:r>
              <a:rPr lang="en-IN" sz="2400" dirty="0"/>
              <a:t>Dependence on accurate patient input.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4520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82976A-1C36-8112-169E-B2D50AD80915}"/>
              </a:ext>
            </a:extLst>
          </p:cNvPr>
          <p:cNvSpPr txBox="1"/>
          <p:nvPr/>
        </p:nvSpPr>
        <p:spPr>
          <a:xfrm>
            <a:off x="678426" y="366239"/>
            <a:ext cx="11444748" cy="63563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 web-based AI-assisted disease prediction system.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 patient details and symptoms through a web interface.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Validate and preprocess the submitted information.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 symptoms into the required machine-learning format.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a trained Random Forest model for disease classification.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 a possible disease prediction with a confidence score.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general precautions and recommendations.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Store prediction results securely in MySQL. </a:t>
            </a:r>
          </a:p>
          <a:p>
            <a:pPr>
              <a:lnSpc>
                <a:spcPct val="150000"/>
              </a:lnSpc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Advantage</a:t>
            </a:r>
          </a:p>
          <a:p>
            <a:pPr>
              <a:lnSpc>
                <a:spcPct val="150000"/>
              </a:lnSpc>
              <a:buNone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Input + Automated Processing + ML Prediction + Confidence + Recommendations + History</a:t>
            </a:r>
          </a:p>
        </p:txBody>
      </p:sp>
    </p:spTree>
    <p:extLst>
      <p:ext uri="{BB962C8B-B14F-4D97-AF65-F5344CB8AC3E}">
        <p14:creationId xmlns:p14="http://schemas.microsoft.com/office/powerpoint/2010/main" val="41710342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94360" y="384048"/>
            <a:ext cx="439447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1253F"/>
                </a:solidFill>
                <a:latin typeface="Aptos Display"/>
              </a:defRPr>
            </a:pPr>
            <a:r>
              <a:rPr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9CD2D7C-0666-8C77-25FA-FB53F26F4D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2206092"/>
              </p:ext>
            </p:extLst>
          </p:nvPr>
        </p:nvGraphicFramePr>
        <p:xfrm>
          <a:off x="1620520" y="3268821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52564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5890086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67E3A6B9-47F6-6EA7-4512-C8CD1FCE6B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1644215"/>
              </p:ext>
            </p:extLst>
          </p:nvPr>
        </p:nvGraphicFramePr>
        <p:xfrm>
          <a:off x="562241" y="938046"/>
          <a:ext cx="10843178" cy="5784516"/>
        </p:xfrm>
        <a:graphic>
          <a:graphicData uri="http://schemas.openxmlformats.org/drawingml/2006/table">
            <a:tbl>
              <a:tblPr/>
              <a:tblGrid>
                <a:gridCol w="2300748">
                  <a:extLst>
                    <a:ext uri="{9D8B030D-6E8A-4147-A177-3AD203B41FA5}">
                      <a16:colId xmlns:a16="http://schemas.microsoft.com/office/drawing/2014/main" val="3646020888"/>
                    </a:ext>
                  </a:extLst>
                </a:gridCol>
                <a:gridCol w="1465007">
                  <a:extLst>
                    <a:ext uri="{9D8B030D-6E8A-4147-A177-3AD203B41FA5}">
                      <a16:colId xmlns:a16="http://schemas.microsoft.com/office/drawing/2014/main" val="2715388317"/>
                    </a:ext>
                  </a:extLst>
                </a:gridCol>
                <a:gridCol w="1474839">
                  <a:extLst>
                    <a:ext uri="{9D8B030D-6E8A-4147-A177-3AD203B41FA5}">
                      <a16:colId xmlns:a16="http://schemas.microsoft.com/office/drawing/2014/main" val="2499860410"/>
                    </a:ext>
                  </a:extLst>
                </a:gridCol>
                <a:gridCol w="1612490">
                  <a:extLst>
                    <a:ext uri="{9D8B030D-6E8A-4147-A177-3AD203B41FA5}">
                      <a16:colId xmlns:a16="http://schemas.microsoft.com/office/drawing/2014/main" val="516558735"/>
                    </a:ext>
                  </a:extLst>
                </a:gridCol>
                <a:gridCol w="1465006">
                  <a:extLst>
                    <a:ext uri="{9D8B030D-6E8A-4147-A177-3AD203B41FA5}">
                      <a16:colId xmlns:a16="http://schemas.microsoft.com/office/drawing/2014/main" val="751399471"/>
                    </a:ext>
                  </a:extLst>
                </a:gridCol>
                <a:gridCol w="2525088">
                  <a:extLst>
                    <a:ext uri="{9D8B030D-6E8A-4147-A177-3AD203B41FA5}">
                      <a16:colId xmlns:a16="http://schemas.microsoft.com/office/drawing/2014/main" val="3111744086"/>
                    </a:ext>
                  </a:extLst>
                </a:gridCol>
              </a:tblGrid>
              <a:tr h="330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Title</a:t>
                      </a:r>
                      <a:endParaRPr lang="en-IN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Author</a:t>
                      </a:r>
                      <a:endParaRPr lang="en-IN" sz="19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Year</a:t>
                      </a:r>
                      <a:endParaRPr lang="en-IN" sz="19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Problem Solved</a:t>
                      </a:r>
                      <a:endParaRPr lang="en-IN" sz="19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Advantages</a:t>
                      </a:r>
                      <a:endParaRPr lang="en-IN" sz="19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Disadvantages</a:t>
                      </a:r>
                      <a:endParaRPr lang="en-IN" sz="19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2628678"/>
                  </a:ext>
                </a:extLst>
              </a:tr>
              <a:tr h="6128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Disease Prediction Using ML Algorithms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Various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2021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Symptom-based disease prediction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Random Forest performed well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Sensitive to wrong inputs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6051307"/>
                  </a:ext>
                </a:extLst>
              </a:tr>
              <a:tr h="7543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Disease Prediction using Machine Learning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Panchal et al.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2020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Early disease identification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Uses Random Forest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Depends on input quality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924479"/>
                  </a:ext>
                </a:extLst>
              </a:tr>
              <a:tr h="895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Symptom-Based Disease Prediction: A ML Approach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Sirigineedi</a:t>
                      </a:r>
                      <a:r>
                        <a:rPr lang="en-IN" sz="1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et al.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2024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Multi-symptom disease prediction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Multiple ML models + evaluation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Needs diverse datasets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9597633"/>
                  </a:ext>
                </a:extLst>
              </a:tr>
              <a:tr h="7543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Symptom Based Disease Prediction Using ML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Sood &amp; Sharma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2024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Rapid preliminary prediction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RF, KNN, DT, NB comparison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Dataset dependent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7231608"/>
                  </a:ext>
                </a:extLst>
              </a:tr>
              <a:tr h="11786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Optimized ML Classifiers for Symptom-Based Disease Screening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Research study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2024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Automated disease screening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Robust classifier comparison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Needs real-world validation</a:t>
                      </a:r>
                    </a:p>
                  </a:txBody>
                  <a:tcPr marL="47145" marR="47145" marT="23573" marB="2357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10395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94360" y="384048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1253F"/>
                </a:solidFill>
                <a:latin typeface="Aptos Display"/>
              </a:defRPr>
            </a:pPr>
            <a:r>
              <a:t>SYSTEM ARCHITECTURE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362E1E07-4F8A-CF34-21DE-5E268F87BE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938" y="1248727"/>
            <a:ext cx="10612123" cy="52292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4AB8DE3-CC57-6D8C-83F1-B5301834283B}"/>
              </a:ext>
            </a:extLst>
          </p:cNvPr>
          <p:cNvSpPr txBox="1"/>
          <p:nvPr/>
        </p:nvSpPr>
        <p:spPr>
          <a:xfrm>
            <a:off x="344129" y="334297"/>
            <a:ext cx="11375923" cy="634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1 — WEB INTERFACE</a:t>
            </a:r>
          </a:p>
          <a:p>
            <a:pPr>
              <a:buNone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 Interface/User Input</a:t>
            </a: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module. </a:t>
            </a:r>
          </a:p>
          <a:p>
            <a:pPr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a simple user-friendly interface.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 patient information.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 symptoms required for prediction.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Send the submitted information to the application server.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Display the prediction result to the user. </a:t>
            </a:r>
          </a:p>
          <a:p>
            <a:pPr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Patient details form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Symptom selection interface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 button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Login/registration interface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display interface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 HTML/CSS/JavaScript </a:t>
            </a:r>
          </a:p>
          <a:p>
            <a:pPr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Working</a:t>
            </a:r>
          </a:p>
          <a:p>
            <a:pPr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→ Enters Patient Details → Selects Symptoms → Submits Form → Data Sent to Application Server</a:t>
            </a: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D10940-49FC-9BEB-1FD1-AF330724441F}"/>
              </a:ext>
            </a:extLst>
          </p:cNvPr>
          <p:cNvSpPr txBox="1"/>
          <p:nvPr/>
        </p:nvSpPr>
        <p:spPr>
          <a:xfrm>
            <a:off x="7197214" y="1278193"/>
            <a:ext cx="4840236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 patient information.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Selected symptoms.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Submitted prediction request.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 result displayed to the user.</a:t>
            </a:r>
          </a:p>
        </p:txBody>
      </p:sp>
    </p:spTree>
    <p:extLst>
      <p:ext uri="{BB962C8B-B14F-4D97-AF65-F5344CB8AC3E}">
        <p14:creationId xmlns:p14="http://schemas.microsoft.com/office/powerpoint/2010/main" val="2196199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FA8B56-5CDF-AA02-A173-C25F2BC47704}"/>
              </a:ext>
            </a:extLst>
          </p:cNvPr>
          <p:cNvSpPr txBox="1"/>
          <p:nvPr/>
        </p:nvSpPr>
        <p:spPr>
          <a:xfrm>
            <a:off x="226141" y="147484"/>
            <a:ext cx="9851923" cy="634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2 — APPLICATION SERVER</a:t>
            </a:r>
          </a:p>
          <a:p>
            <a:pPr>
              <a:buNone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bridge between the user interface and machine-learning model. </a:t>
            </a:r>
          </a:p>
          <a:p>
            <a:pPr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Receive patient information from the web interface.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Validate user input.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 submitted symptoms.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 symptoms into the required format.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Forward processed data to the prediction engine. </a:t>
            </a:r>
          </a:p>
          <a:p>
            <a:pPr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Flask/Python application server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validation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Symptom encoding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 communication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 model interface </a:t>
            </a:r>
          </a:p>
          <a:p>
            <a:pPr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Working</a:t>
            </a:r>
          </a:p>
          <a:p>
            <a:pPr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 Input → Validation → Symptom Processing → Feature Conversion → Prediction Engine</a:t>
            </a: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DE093E-1D1C-4A64-5213-B2DFB27A329C}"/>
              </a:ext>
            </a:extLst>
          </p:cNvPr>
          <p:cNvSpPr txBox="1"/>
          <p:nvPr/>
        </p:nvSpPr>
        <p:spPr>
          <a:xfrm>
            <a:off x="6608791" y="1609033"/>
            <a:ext cx="5663730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Validated patient data.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Preprocessed</a:t>
            </a: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symptom features.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ML-ready input sent to the prediction engine.</a:t>
            </a:r>
          </a:p>
          <a:p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84143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5EA532-C786-EE7D-BAF2-CA757468B6A9}"/>
              </a:ext>
            </a:extLst>
          </p:cNvPr>
          <p:cNvSpPr txBox="1"/>
          <p:nvPr/>
        </p:nvSpPr>
        <p:spPr>
          <a:xfrm>
            <a:off x="235974" y="157316"/>
            <a:ext cx="8908026" cy="627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3 — PREDICTION ENGINE &amp; OUTPUT</a:t>
            </a:r>
          </a:p>
          <a:p>
            <a:pPr>
              <a:buNone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machine-learning prediction and result-presentation component. </a:t>
            </a:r>
          </a:p>
          <a:p>
            <a:pPr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 the possible disease from processed symptoms.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 the prediction confidence.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 the prediction clearly.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precautions and recommendations.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Store the prediction result in MySQL. </a:t>
            </a:r>
          </a:p>
          <a:p>
            <a:pPr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Trained Random Forest model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 function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Confidence calculation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Recommendation module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interface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MySQL database </a:t>
            </a:r>
          </a:p>
          <a:p>
            <a:pPr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Working</a:t>
            </a:r>
          </a:p>
          <a:p>
            <a:pPr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Processed Symptoms → Random Forest → Disease Prediction → Confidence → Recommendations → MySQL</a:t>
            </a: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BF5846-D5B9-7062-2D71-F41DFC7841F2}"/>
              </a:ext>
            </a:extLst>
          </p:cNvPr>
          <p:cNvSpPr txBox="1"/>
          <p:nvPr/>
        </p:nvSpPr>
        <p:spPr>
          <a:xfrm>
            <a:off x="7816644" y="2851355"/>
            <a:ext cx="3627853" cy="24929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Predicted disease.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Confidence score.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 precautions.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Recommendations.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Stored prediction history</a:t>
            </a: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200" dirty="0"/>
          </a:p>
        </p:txBody>
      </p:sp>
    </p:spTree>
    <p:extLst>
      <p:ext uri="{BB962C8B-B14F-4D97-AF65-F5344CB8AC3E}">
        <p14:creationId xmlns:p14="http://schemas.microsoft.com/office/powerpoint/2010/main" val="3349709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58D88AA-AA5F-CD1A-8CD8-3B9CB2655215}"/>
              </a:ext>
            </a:extLst>
          </p:cNvPr>
          <p:cNvSpPr txBox="1"/>
          <p:nvPr/>
        </p:nvSpPr>
        <p:spPr>
          <a:xfrm>
            <a:off x="570271" y="314632"/>
            <a:ext cx="10559845" cy="6093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OFFLINE MODEL TRAINING</a:t>
            </a:r>
          </a:p>
          <a:p>
            <a:pPr>
              <a:buNone/>
            </a:pPr>
            <a:endParaRPr lang="en-IN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Prepare historical disease data for machine learning.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 the Random Forest classifier.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 model performance.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Save the trained model for future predictions. </a:t>
            </a:r>
          </a:p>
          <a:p>
            <a:pPr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Historical disease dataset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preparation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 classifier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 metrics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Saved trained model </a:t>
            </a:r>
          </a:p>
          <a:p>
            <a:pPr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Working</a:t>
            </a:r>
          </a:p>
          <a:p>
            <a:pPr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→ Cleaning → Preprocessing → Training → Evaluation → Model Saving</a:t>
            </a: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124D14-0726-2E2A-044D-E6C02149C82F}"/>
              </a:ext>
            </a:extLst>
          </p:cNvPr>
          <p:cNvSpPr txBox="1"/>
          <p:nvPr/>
        </p:nvSpPr>
        <p:spPr>
          <a:xfrm>
            <a:off x="6739866" y="2705725"/>
            <a:ext cx="5452134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Trained Random Forest model.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Evaluated model performance.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Saved model used by the Prediction Engine</a:t>
            </a:r>
            <a:endParaRPr lang="en-IN" sz="2200" dirty="0"/>
          </a:p>
        </p:txBody>
      </p:sp>
    </p:spTree>
    <p:extLst>
      <p:ext uri="{BB962C8B-B14F-4D97-AF65-F5344CB8AC3E}">
        <p14:creationId xmlns:p14="http://schemas.microsoft.com/office/powerpoint/2010/main" val="24871457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D89BB13-BD0B-9D67-054B-B7B16D8B07AA}"/>
              </a:ext>
            </a:extLst>
          </p:cNvPr>
          <p:cNvSpPr txBox="1"/>
          <p:nvPr/>
        </p:nvSpPr>
        <p:spPr>
          <a:xfrm>
            <a:off x="835741" y="688258"/>
            <a:ext cx="9861756" cy="4325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Patient details and symptoms can be collected through the web interface.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Submitted information is validated and </a:t>
            </a:r>
            <a:r>
              <a:rPr lang="en-IN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preprocessed</a:t>
            </a: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trained Random Forest model generates a possible disease prediction.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confidence score is displayed with the prediction.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 precautions and recommendations are provided.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 results are stored in MySQL.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Previous prediction information can be maintained for future reference. </a:t>
            </a:r>
          </a:p>
        </p:txBody>
      </p:sp>
    </p:spTree>
    <p:extLst>
      <p:ext uri="{BB962C8B-B14F-4D97-AF65-F5344CB8AC3E}">
        <p14:creationId xmlns:p14="http://schemas.microsoft.com/office/powerpoint/2010/main" val="22834643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1E69764-EE6C-56BF-52A3-F9EEC56CA1DF}"/>
              </a:ext>
            </a:extLst>
          </p:cNvPr>
          <p:cNvSpPr txBox="1"/>
          <p:nvPr/>
        </p:nvSpPr>
        <p:spPr>
          <a:xfrm>
            <a:off x="776748" y="806245"/>
            <a:ext cx="10255046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proposed system provides a simple web-based platform for symptom-based disease prediction.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Patient information is validated and </a:t>
            </a:r>
            <a:r>
              <a:rPr lang="en-IN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preprocessed</a:t>
            </a: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before prediction.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 is used as the disease classification algorithm.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provides a possible disease along with a confidence score.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 precautions and recommendations are presented to the user.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 information is stored in MySQL.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demonstrates the application of Data Mining and Machine Learning in healthcare.</a:t>
            </a:r>
          </a:p>
        </p:txBody>
      </p:sp>
    </p:spTree>
    <p:extLst>
      <p:ext uri="{BB962C8B-B14F-4D97-AF65-F5344CB8AC3E}">
        <p14:creationId xmlns:p14="http://schemas.microsoft.com/office/powerpoint/2010/main" val="24079555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9793953-B372-853E-6534-AD68E935475F}"/>
              </a:ext>
            </a:extLst>
          </p:cNvPr>
          <p:cNvSpPr txBox="1"/>
          <p:nvPr/>
        </p:nvSpPr>
        <p:spPr>
          <a:xfrm>
            <a:off x="934063" y="167148"/>
            <a:ext cx="9960077" cy="5848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 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Hospital API Integration </a:t>
            </a:r>
          </a:p>
          <a:p>
            <a:pPr marL="742950" lvl="1" indent="-285750">
              <a:lnSpc>
                <a:spcPct val="150000"/>
              </a:lnSpc>
              <a:buFont typeface="+mj-lt"/>
              <a:buAutoNum type="arabicPeriod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 the system with real hospital information systems. 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Live Doctor Availability </a:t>
            </a:r>
          </a:p>
          <a:p>
            <a:pPr marL="742950" lvl="1" indent="-285750">
              <a:lnSpc>
                <a:spcPct val="150000"/>
              </a:lnSpc>
              <a:buFont typeface="+mj-lt"/>
              <a:buAutoNum type="arabicPeriod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information about available doctors and appointments. 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Healthcare Chatbot </a:t>
            </a:r>
          </a:p>
          <a:p>
            <a:pPr marL="742950" lvl="1" indent="-285750">
              <a:lnSpc>
                <a:spcPct val="150000"/>
              </a:lnSpc>
              <a:buFont typeface="+mj-lt"/>
              <a:buAutoNum type="arabicPeriod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interactive real-time assistance. 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Video Consultation </a:t>
            </a:r>
          </a:p>
          <a:p>
            <a:pPr marL="742950" lvl="1" indent="-285750">
              <a:lnSpc>
                <a:spcPct val="150000"/>
              </a:lnSpc>
              <a:buFont typeface="+mj-lt"/>
              <a:buAutoNum type="arabicPeriod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 users to connect with healthcare professionals remotely. 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 Database Deployment </a:t>
            </a:r>
          </a:p>
          <a:p>
            <a:pPr marL="742950" lvl="1" indent="-285750">
              <a:lnSpc>
                <a:spcPct val="150000"/>
              </a:lnSpc>
              <a:buFont typeface="+mj-lt"/>
              <a:buAutoNum type="arabicPeriod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scalable healthcare data storage. </a:t>
            </a:r>
          </a:p>
        </p:txBody>
      </p:sp>
    </p:spTree>
    <p:extLst>
      <p:ext uri="{BB962C8B-B14F-4D97-AF65-F5344CB8AC3E}">
        <p14:creationId xmlns:p14="http://schemas.microsoft.com/office/powerpoint/2010/main" val="13646610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hank you Images - Free Download on Magnific (formerly Freepik)">
            <a:extLst>
              <a:ext uri="{FF2B5EF4-FFF2-40B4-BE49-F238E27FC236}">
                <a16:creationId xmlns:a16="http://schemas.microsoft.com/office/drawing/2014/main" id="{896EF694-AEF2-DD1C-C790-B5C54D284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7191" y="1319212"/>
            <a:ext cx="5962650" cy="4219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1731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</TotalTime>
  <Words>1083</Words>
  <Application>Microsoft Office PowerPoint</Application>
  <PresentationFormat>Widescreen</PresentationFormat>
  <Paragraphs>204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Amrita Arun</cp:lastModifiedBy>
  <cp:revision>4</cp:revision>
  <dcterms:modified xsi:type="dcterms:W3CDTF">2026-08-20T03:31:56Z</dcterms:modified>
</cp:coreProperties>
</file>